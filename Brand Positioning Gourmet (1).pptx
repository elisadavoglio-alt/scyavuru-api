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Boldonse"/>
      <p:regular r:id="rId19"/>
    </p:embeddedFont>
    <p:embeddedFont>
      <p:font typeface="Comfortaa"/>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8454DD9-8CDB-42CD-A0AC-9FB1692D4590}">
  <a:tblStyle styleId="{08454DD9-8CDB-42CD-A0AC-9FB1692D459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Comfortaa-regular.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Comfortaa-bold.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font" Target="fonts/Boldonse-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d71dda247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d71dda247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Domande per Rosario: vuoi essere Italiano o Siciliano? O cosa?</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it"/>
              <a:t>Ottant'anni di competenza agricola nella selezione e una ricetta ventennale perfezionata. Un processo 'dal guscio al vasetto' che trasforma il seme integro in una crema d'eccellenza, lasciandolo il protagonista in purezza e sapore.</a:t>
            </a:r>
            <a:endParaRPr/>
          </a:p>
          <a:p>
            <a:pPr indent="0" lvl="0" marL="0" rtl="0" algn="l">
              <a:spcBef>
                <a:spcPts val="0"/>
              </a:spcBef>
              <a:spcAft>
                <a:spcPts val="0"/>
              </a:spcAft>
              <a:buNone/>
            </a:pPr>
            <a:r>
              <a:rPr lang="it" sz="900">
                <a:solidFill>
                  <a:schemeClr val="dk1"/>
                </a:solidFill>
              </a:rPr>
              <a:t>La selezione dei frutti da agricoltori esperti (80 anni), una ricetta ventennale continuamente migliorata, un processo produttivo all’avanguardia che parte dal seme ancora protetto nel suo guscio per arrivare ad una crema che ne esalta il suo sapore pieno </a:t>
            </a:r>
            <a:endParaRPr sz="900">
              <a:solidFill>
                <a:schemeClr val="dk1"/>
              </a:solidFill>
            </a:endParaRPr>
          </a:p>
          <a:p>
            <a:pPr indent="0" lvl="0" marL="0" rtl="0" algn="l">
              <a:spcBef>
                <a:spcPts val="0"/>
              </a:spcBef>
              <a:spcAft>
                <a:spcPts val="0"/>
              </a:spcAft>
              <a:buClr>
                <a:schemeClr val="dk1"/>
              </a:buClr>
              <a:buSzPts val="1100"/>
              <a:buFont typeface="Arial"/>
              <a:buNone/>
            </a:pPr>
            <a:r>
              <a:rPr lang="it" sz="900">
                <a:solidFill>
                  <a:schemeClr val="dk1"/>
                </a:solidFill>
              </a:rPr>
              <a:t>Il cibo è il mio viaggio quotidiano: cerco un’esperienza così pura e piena da trasportarmi istantaneamente in Sicilia, regalandomi la certezza di aver scelto, finalmente, il meglio per me.</a:t>
            </a:r>
            <a:endParaRPr sz="9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d71dda247b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d71dda247b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d71dda247b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d71dda247b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d71dda247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d71dda247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d71dda247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3d71dda247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d71dda247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d71dda247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e602c59a3c_4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e602c59a3c_4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d71dda247b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d71dda247b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d71dda247b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d71dda247b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71dda247b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71dda247b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d71dda247b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d71dda247b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4836212" y="0"/>
            <a:ext cx="4283218" cy="5349124"/>
          </a:xfrm>
          <a:prstGeom prst="rect">
            <a:avLst/>
          </a:prstGeom>
          <a:noFill/>
          <a:ln>
            <a:noFill/>
          </a:ln>
        </p:spPr>
      </p:pic>
      <p:sp>
        <p:nvSpPr>
          <p:cNvPr id="55" name="Google Shape;55;p13"/>
          <p:cNvSpPr/>
          <p:nvPr/>
        </p:nvSpPr>
        <p:spPr>
          <a:xfrm>
            <a:off x="30500" y="50000"/>
            <a:ext cx="4805700" cy="51435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b="1" i="1" lang="it" sz="3100">
                <a:latin typeface="Comfortaa"/>
                <a:ea typeface="Comfortaa"/>
                <a:cs typeface="Comfortaa"/>
                <a:sym typeface="Comfortaa"/>
              </a:rPr>
              <a:t>IL Nuovo Brand Gourmet By </a:t>
            </a:r>
            <a:r>
              <a:rPr b="1" i="1" lang="it" sz="3100">
                <a:latin typeface="Comfortaa"/>
                <a:ea typeface="Comfortaa"/>
                <a:cs typeface="Comfortaa"/>
                <a:sym typeface="Comfortaa"/>
              </a:rPr>
              <a:t>SCYAVURU </a:t>
            </a:r>
            <a:endParaRPr b="1" i="1" sz="3100">
              <a:latin typeface="Comfortaa"/>
              <a:ea typeface="Comfortaa"/>
              <a:cs typeface="Comfortaa"/>
              <a:sym typeface="Comfortaa"/>
            </a:endParaRPr>
          </a:p>
          <a:p>
            <a:pPr indent="0" lvl="0" marL="0" rtl="0" algn="ctr">
              <a:lnSpc>
                <a:spcPct val="115000"/>
              </a:lnSpc>
              <a:spcBef>
                <a:spcPts val="0"/>
              </a:spcBef>
              <a:spcAft>
                <a:spcPts val="0"/>
              </a:spcAft>
              <a:buNone/>
            </a:pPr>
            <a:r>
              <a:t/>
            </a:r>
            <a:endParaRPr b="1" i="1" sz="3100">
              <a:latin typeface="Comfortaa"/>
              <a:ea typeface="Comfortaa"/>
              <a:cs typeface="Comfortaa"/>
              <a:sym typeface="Comfortaa"/>
            </a:endParaRPr>
          </a:p>
          <a:p>
            <a:pPr indent="0" lvl="0" marL="0" rtl="0" algn="ctr">
              <a:lnSpc>
                <a:spcPct val="115000"/>
              </a:lnSpc>
              <a:spcBef>
                <a:spcPts val="0"/>
              </a:spcBef>
              <a:spcAft>
                <a:spcPts val="0"/>
              </a:spcAft>
              <a:buNone/>
            </a:pPr>
            <a:r>
              <a:rPr b="1" i="1" lang="it" sz="3100">
                <a:latin typeface="Comfortaa"/>
                <a:ea typeface="Comfortaa"/>
                <a:cs typeface="Comfortaa"/>
                <a:sym typeface="Comfortaa"/>
              </a:rPr>
              <a:t> </a:t>
            </a:r>
            <a:endParaRPr b="1" i="1" sz="3100">
              <a:latin typeface="Comfortaa"/>
              <a:ea typeface="Comfortaa"/>
              <a:cs typeface="Comfortaa"/>
              <a:sym typeface="Comfortaa"/>
            </a:endParaRPr>
          </a:p>
          <a:p>
            <a:pPr indent="0" lvl="0" marL="0" rtl="0" algn="ctr">
              <a:lnSpc>
                <a:spcPct val="115000"/>
              </a:lnSpc>
              <a:spcBef>
                <a:spcPts val="0"/>
              </a:spcBef>
              <a:spcAft>
                <a:spcPts val="0"/>
              </a:spcAft>
              <a:buNone/>
            </a:pPr>
            <a:r>
              <a:rPr b="1" i="1" lang="it" sz="3100">
                <a:latin typeface="Comfortaa"/>
                <a:ea typeface="Comfortaa"/>
                <a:cs typeface="Comfortaa"/>
                <a:sym typeface="Comfortaa"/>
              </a:rPr>
              <a:t>THE BRAND KEY MODEL</a:t>
            </a:r>
            <a:endParaRPr b="1" i="1" sz="3100">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p:nvPr/>
        </p:nvSpPr>
        <p:spPr>
          <a:xfrm>
            <a:off x="1484025" y="4464523"/>
            <a:ext cx="6140100" cy="599100"/>
          </a:xfrm>
          <a:prstGeom prst="rect">
            <a:avLst/>
          </a:prstGeom>
          <a:solidFill>
            <a:schemeClr val="l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it" sz="1000"/>
              <a:t>1) </a:t>
            </a:r>
            <a:r>
              <a:rPr b="1" lang="it" sz="1000"/>
              <a:t>La forza del brand:</a:t>
            </a:r>
            <a:endParaRPr b="1" sz="1000"/>
          </a:p>
          <a:p>
            <a:pPr indent="0" lvl="0" marL="0" rtl="0" algn="l">
              <a:spcBef>
                <a:spcPts val="0"/>
              </a:spcBef>
              <a:spcAft>
                <a:spcPts val="0"/>
              </a:spcAft>
              <a:buNone/>
            </a:pPr>
            <a:r>
              <a:rPr lang="it" sz="800">
                <a:solidFill>
                  <a:schemeClr val="dk1"/>
                </a:solidFill>
              </a:rPr>
              <a:t>Ottant'anni di competenza agricola nella selezione dei frutti, una ricetta ventennale perfezionata anno dopo anno. Un processo 'dal guscio al vasetto' che trasforma il seme integro in una crema d'eccellenza, custodendone la purezza e tutto il vigore del suo sapore.</a:t>
            </a:r>
            <a:endParaRPr sz="800"/>
          </a:p>
        </p:txBody>
      </p:sp>
      <p:sp>
        <p:nvSpPr>
          <p:cNvPr id="61" name="Google Shape;61;p14"/>
          <p:cNvSpPr/>
          <p:nvPr/>
        </p:nvSpPr>
        <p:spPr>
          <a:xfrm>
            <a:off x="1484025" y="3939075"/>
            <a:ext cx="3087900" cy="50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0000" spcFirstLastPara="1" rIns="91425" wrap="square" tIns="91425">
            <a:noAutofit/>
          </a:bodyPr>
          <a:lstStyle/>
          <a:p>
            <a:pPr indent="0" lvl="0" marL="0" rtl="0" algn="l">
              <a:spcBef>
                <a:spcPts val="0"/>
              </a:spcBef>
              <a:spcAft>
                <a:spcPts val="0"/>
              </a:spcAft>
              <a:buNone/>
            </a:pPr>
            <a:r>
              <a:rPr b="1" lang="it" sz="1000">
                <a:solidFill>
                  <a:schemeClr val="dk1"/>
                </a:solidFill>
              </a:rPr>
              <a:t>2</a:t>
            </a:r>
            <a:r>
              <a:rPr b="1" lang="it" sz="1000">
                <a:solidFill>
                  <a:schemeClr val="dk1"/>
                </a:solidFill>
              </a:rPr>
              <a:t>) </a:t>
            </a:r>
            <a:r>
              <a:rPr b="1" lang="it" sz="1000">
                <a:solidFill>
                  <a:schemeClr val="dk1"/>
                </a:solidFill>
              </a:rPr>
              <a:t>Competitors:</a:t>
            </a:r>
            <a:r>
              <a:rPr lang="it" sz="1000">
                <a:solidFill>
                  <a:schemeClr val="dk1"/>
                </a:solidFill>
              </a:rPr>
              <a:t> </a:t>
            </a:r>
            <a:endParaRPr sz="1000">
              <a:solidFill>
                <a:schemeClr val="dk1"/>
              </a:solidFill>
            </a:endParaRPr>
          </a:p>
          <a:p>
            <a:pPr indent="0" lvl="0" marL="0" marR="0" rtl="0" algn="l">
              <a:spcBef>
                <a:spcPts val="0"/>
              </a:spcBef>
              <a:spcAft>
                <a:spcPts val="0"/>
              </a:spcAft>
              <a:buClr>
                <a:schemeClr val="dk1"/>
              </a:buClr>
              <a:buSzPts val="1100"/>
              <a:buFont typeface="Arial"/>
              <a:buNone/>
            </a:pPr>
            <a:r>
              <a:rPr lang="it" sz="800">
                <a:solidFill>
                  <a:schemeClr val="dk1"/>
                </a:solidFill>
              </a:rPr>
              <a:t>M</a:t>
            </a:r>
            <a:r>
              <a:rPr lang="it" sz="700">
                <a:solidFill>
                  <a:schemeClr val="dk1"/>
                </a:solidFill>
              </a:rPr>
              <a:t>archi gourmet, autentici o 'Italian Sounding',  prezzi elevati, dichiarano alta quatita di frutta, ma cio’ non trova sempre riscontro in una resa organolettica o una esperienza gustativa in linea con le aspettative</a:t>
            </a:r>
            <a:r>
              <a:rPr lang="it" sz="800">
                <a:solidFill>
                  <a:schemeClr val="dk1"/>
                </a:solidFill>
              </a:rPr>
              <a:t> </a:t>
            </a:r>
            <a:endParaRPr sz="1100">
              <a:solidFill>
                <a:schemeClr val="dk1"/>
              </a:solidFill>
            </a:endParaRPr>
          </a:p>
        </p:txBody>
      </p:sp>
      <p:sp>
        <p:nvSpPr>
          <p:cNvPr id="62" name="Google Shape;62;p14"/>
          <p:cNvSpPr/>
          <p:nvPr/>
        </p:nvSpPr>
        <p:spPr>
          <a:xfrm>
            <a:off x="4581900" y="3939075"/>
            <a:ext cx="2964900" cy="50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spcBef>
                <a:spcPts val="0"/>
              </a:spcBef>
              <a:spcAft>
                <a:spcPts val="0"/>
              </a:spcAft>
              <a:buNone/>
            </a:pPr>
            <a:r>
              <a:rPr b="1" lang="it" sz="1000">
                <a:solidFill>
                  <a:schemeClr val="dk1"/>
                </a:solidFill>
              </a:rPr>
              <a:t>3) Target:</a:t>
            </a:r>
            <a:endParaRPr b="1" sz="1000">
              <a:solidFill>
                <a:schemeClr val="dk1"/>
              </a:solidFill>
            </a:endParaRPr>
          </a:p>
          <a:p>
            <a:pPr indent="0" lvl="0" marL="0" marR="0" rtl="0" algn="l">
              <a:spcBef>
                <a:spcPts val="0"/>
              </a:spcBef>
              <a:spcAft>
                <a:spcPts val="0"/>
              </a:spcAft>
              <a:buClr>
                <a:schemeClr val="dk1"/>
              </a:buClr>
              <a:buSzPts val="1100"/>
              <a:buFont typeface="Arial"/>
              <a:buNone/>
            </a:pPr>
            <a:r>
              <a:rPr lang="it" sz="700">
                <a:solidFill>
                  <a:schemeClr val="dk1"/>
                </a:solidFill>
              </a:rPr>
              <a:t>Foodies e professionisti urbani internazionali (40-65), ricercano il lusso della genuinità, rifuggono l'industrializzazione e l’'Italian Sounding',  premiano trasparenza di filiera e intensità sensoriale Siciliana/Italiana.</a:t>
            </a:r>
            <a:endParaRPr sz="700">
              <a:solidFill>
                <a:schemeClr val="dk1"/>
              </a:solidFill>
            </a:endParaRPr>
          </a:p>
        </p:txBody>
      </p:sp>
      <p:sp>
        <p:nvSpPr>
          <p:cNvPr id="63" name="Google Shape;63;p14"/>
          <p:cNvSpPr/>
          <p:nvPr/>
        </p:nvSpPr>
        <p:spPr>
          <a:xfrm>
            <a:off x="2852425" y="3400800"/>
            <a:ext cx="3648300" cy="500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 sz="1000"/>
              <a:t>4) </a:t>
            </a:r>
            <a:r>
              <a:rPr b="1" lang="it" sz="1000"/>
              <a:t>Consumer Insight:</a:t>
            </a:r>
            <a:endParaRPr b="1" sz="1000"/>
          </a:p>
          <a:p>
            <a:pPr indent="0" lvl="0" marL="0" rtl="0" algn="l">
              <a:spcBef>
                <a:spcPts val="0"/>
              </a:spcBef>
              <a:spcAft>
                <a:spcPts val="0"/>
              </a:spcAft>
              <a:buNone/>
            </a:pPr>
            <a:r>
              <a:rPr lang="it" sz="700"/>
              <a:t>Quando lo compro voglio sentire che ho scelto il meglio per me, per una coccola che mi faccia sentire speciale. Quando lo mangio faccio un viaggio,  e voglio un’esperienza palatale così piena e pura da farmi sentire, anche solo per un istante, in Sicilia.</a:t>
            </a:r>
            <a:endParaRPr sz="700"/>
          </a:p>
        </p:txBody>
      </p:sp>
      <p:sp>
        <p:nvSpPr>
          <p:cNvPr id="64" name="Google Shape;64;p14"/>
          <p:cNvSpPr/>
          <p:nvPr/>
        </p:nvSpPr>
        <p:spPr>
          <a:xfrm>
            <a:off x="2878200" y="1325425"/>
            <a:ext cx="2252400" cy="20352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4"/>
          <p:cNvSpPr/>
          <p:nvPr/>
        </p:nvSpPr>
        <p:spPr>
          <a:xfrm rot="-5400000">
            <a:off x="4196175" y="1133225"/>
            <a:ext cx="2083800" cy="24174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p:nvPr/>
        </p:nvSpPr>
        <p:spPr>
          <a:xfrm rot="5400000">
            <a:off x="2843225" y="151925"/>
            <a:ext cx="2280300" cy="22002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4"/>
          <p:cNvSpPr/>
          <p:nvPr/>
        </p:nvSpPr>
        <p:spPr>
          <a:xfrm rot="10800000">
            <a:off x="4143525" y="99325"/>
            <a:ext cx="2292600" cy="2254800"/>
          </a:xfrm>
          <a:prstGeom prst="rtTriangle">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4"/>
          <p:cNvSpPr txBox="1"/>
          <p:nvPr/>
        </p:nvSpPr>
        <p:spPr>
          <a:xfrm>
            <a:off x="3987300" y="1105475"/>
            <a:ext cx="1352400" cy="985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300">
                <a:solidFill>
                  <a:schemeClr val="dk2"/>
                </a:solidFill>
              </a:rPr>
              <a:t>9) Brand Idea</a:t>
            </a:r>
            <a:endParaRPr b="1" sz="1300">
              <a:solidFill>
                <a:schemeClr val="dk2"/>
              </a:solidFill>
            </a:endParaRPr>
          </a:p>
          <a:p>
            <a:pPr indent="0" lvl="0" marL="0" rtl="0" algn="l">
              <a:spcBef>
                <a:spcPts val="0"/>
              </a:spcBef>
              <a:spcAft>
                <a:spcPts val="0"/>
              </a:spcAft>
              <a:buNone/>
            </a:pPr>
            <a:r>
              <a:t/>
            </a:r>
            <a:endParaRPr b="1" sz="1300">
              <a:solidFill>
                <a:schemeClr val="dk2"/>
              </a:solidFill>
            </a:endParaRPr>
          </a:p>
          <a:p>
            <a:pPr indent="0" lvl="0" marL="0" rtl="0" algn="l">
              <a:spcBef>
                <a:spcPts val="0"/>
              </a:spcBef>
              <a:spcAft>
                <a:spcPts val="0"/>
              </a:spcAft>
              <a:buNone/>
            </a:pPr>
            <a:r>
              <a:rPr b="1" lang="it" sz="1300">
                <a:solidFill>
                  <a:schemeClr val="dk2"/>
                </a:solidFill>
              </a:rPr>
              <a:t>L’Integrita’ del Piacere Unico</a:t>
            </a:r>
            <a:endParaRPr b="1" sz="1300">
              <a:solidFill>
                <a:schemeClr val="dk2"/>
              </a:solidFill>
            </a:endParaRPr>
          </a:p>
        </p:txBody>
      </p:sp>
      <p:sp>
        <p:nvSpPr>
          <p:cNvPr id="69" name="Google Shape;69;p14"/>
          <p:cNvSpPr txBox="1"/>
          <p:nvPr/>
        </p:nvSpPr>
        <p:spPr>
          <a:xfrm>
            <a:off x="2892000" y="2188600"/>
            <a:ext cx="1095300" cy="1215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000">
                <a:solidFill>
                  <a:schemeClr val="dk1"/>
                </a:solidFill>
              </a:rPr>
              <a:t>5) Benefici:</a:t>
            </a:r>
            <a:endParaRPr b="1" sz="1000">
              <a:solidFill>
                <a:schemeClr val="dk1"/>
              </a:solidFill>
            </a:endParaRPr>
          </a:p>
          <a:p>
            <a:pPr indent="0" lvl="0" marL="0" rtl="0" algn="l">
              <a:spcBef>
                <a:spcPts val="0"/>
              </a:spcBef>
              <a:spcAft>
                <a:spcPts val="0"/>
              </a:spcAft>
              <a:buNone/>
            </a:pPr>
            <a:r>
              <a:t/>
            </a:r>
            <a:endParaRPr b="1" sz="500">
              <a:solidFill>
                <a:schemeClr val="dk1"/>
              </a:solidFill>
            </a:endParaRPr>
          </a:p>
          <a:p>
            <a:pPr indent="0" lvl="0" marL="0" rtl="0" algn="l">
              <a:spcBef>
                <a:spcPts val="0"/>
              </a:spcBef>
              <a:spcAft>
                <a:spcPts val="0"/>
              </a:spcAft>
              <a:buNone/>
            </a:pPr>
            <a:r>
              <a:rPr lang="it" sz="700" u="sng">
                <a:solidFill>
                  <a:schemeClr val="dk1"/>
                </a:solidFill>
              </a:rPr>
              <a:t>Funzionali:</a:t>
            </a:r>
            <a:endParaRPr sz="700" u="sng">
              <a:solidFill>
                <a:schemeClr val="dk1"/>
              </a:solidFill>
            </a:endParaRPr>
          </a:p>
          <a:p>
            <a:pPr indent="0" lvl="0" marL="0" rtl="0" algn="l">
              <a:spcBef>
                <a:spcPts val="0"/>
              </a:spcBef>
              <a:spcAft>
                <a:spcPts val="0"/>
              </a:spcAft>
              <a:buNone/>
            </a:pPr>
            <a:r>
              <a:rPr lang="it" sz="700">
                <a:solidFill>
                  <a:schemeClr val="dk1"/>
                </a:solidFill>
              </a:rPr>
              <a:t>Appagamento sensoriale; Esperienza Memorabile</a:t>
            </a:r>
            <a:endParaRPr sz="700">
              <a:solidFill>
                <a:schemeClr val="dk1"/>
              </a:solidFill>
            </a:endParaRPr>
          </a:p>
          <a:p>
            <a:pPr indent="0" lvl="0" marL="0" rtl="0" algn="l">
              <a:spcBef>
                <a:spcPts val="0"/>
              </a:spcBef>
              <a:spcAft>
                <a:spcPts val="0"/>
              </a:spcAft>
              <a:buNone/>
            </a:pPr>
            <a:r>
              <a:t/>
            </a:r>
            <a:endParaRPr sz="300">
              <a:solidFill>
                <a:schemeClr val="dk1"/>
              </a:solidFill>
            </a:endParaRPr>
          </a:p>
          <a:p>
            <a:pPr indent="0" lvl="0" marL="0" rtl="0" algn="l">
              <a:spcBef>
                <a:spcPts val="0"/>
              </a:spcBef>
              <a:spcAft>
                <a:spcPts val="0"/>
              </a:spcAft>
              <a:buNone/>
            </a:pPr>
            <a:r>
              <a:rPr lang="it" sz="700" u="sng">
                <a:solidFill>
                  <a:schemeClr val="dk1"/>
                </a:solidFill>
              </a:rPr>
              <a:t>Emotivi:</a:t>
            </a:r>
            <a:endParaRPr sz="700" u="sng">
              <a:solidFill>
                <a:schemeClr val="dk1"/>
              </a:solidFill>
            </a:endParaRPr>
          </a:p>
          <a:p>
            <a:pPr indent="0" lvl="0" marL="0" rtl="0" algn="l">
              <a:spcBef>
                <a:spcPts val="0"/>
              </a:spcBef>
              <a:spcAft>
                <a:spcPts val="0"/>
              </a:spcAft>
              <a:buNone/>
            </a:pPr>
            <a:r>
              <a:rPr lang="it" sz="700">
                <a:solidFill>
                  <a:schemeClr val="dk1"/>
                </a:solidFill>
              </a:rPr>
              <a:t>Sintonia con i propri Valori; Sentirsi esperti</a:t>
            </a:r>
            <a:endParaRPr sz="700">
              <a:solidFill>
                <a:schemeClr val="dk1"/>
              </a:solidFill>
            </a:endParaRPr>
          </a:p>
        </p:txBody>
      </p:sp>
      <p:sp>
        <p:nvSpPr>
          <p:cNvPr id="70" name="Google Shape;70;p14"/>
          <p:cNvSpPr txBox="1"/>
          <p:nvPr/>
        </p:nvSpPr>
        <p:spPr>
          <a:xfrm>
            <a:off x="2911650" y="212800"/>
            <a:ext cx="1300800" cy="89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000">
                <a:solidFill>
                  <a:schemeClr val="dk1"/>
                </a:solidFill>
              </a:rPr>
              <a:t>6) Valori &amp; Credenze</a:t>
            </a:r>
            <a:r>
              <a:rPr b="1" lang="it" sz="1000">
                <a:solidFill>
                  <a:schemeClr val="dk1"/>
                </a:solidFill>
              </a:rPr>
              <a:t>:</a:t>
            </a:r>
            <a:endParaRPr b="1" sz="1000">
              <a:solidFill>
                <a:schemeClr val="dk1"/>
              </a:solidFill>
            </a:endParaRPr>
          </a:p>
          <a:p>
            <a:pPr indent="0" lvl="0" marL="0" rtl="0" algn="l">
              <a:lnSpc>
                <a:spcPct val="115000"/>
              </a:lnSpc>
              <a:spcBef>
                <a:spcPts val="400"/>
              </a:spcBef>
              <a:spcAft>
                <a:spcPts val="0"/>
              </a:spcAft>
              <a:buNone/>
            </a:pPr>
            <a:r>
              <a:rPr lang="it" sz="700">
                <a:solidFill>
                  <a:schemeClr val="dk1"/>
                </a:solidFill>
              </a:rPr>
              <a:t>Onesta’ e Verita’</a:t>
            </a:r>
            <a:endParaRPr sz="700">
              <a:solidFill>
                <a:schemeClr val="dk1"/>
              </a:solidFill>
            </a:endParaRPr>
          </a:p>
          <a:p>
            <a:pPr indent="0" lvl="0" marL="0" marR="0" rtl="0" algn="l">
              <a:lnSpc>
                <a:spcPct val="115000"/>
              </a:lnSpc>
              <a:spcBef>
                <a:spcPts val="0"/>
              </a:spcBef>
              <a:spcAft>
                <a:spcPts val="0"/>
              </a:spcAft>
              <a:buNone/>
            </a:pPr>
            <a:r>
              <a:rPr lang="it" sz="700">
                <a:solidFill>
                  <a:schemeClr val="dk1"/>
                </a:solidFill>
              </a:rPr>
              <a:t>Perfezione Sensoriale Responsabilita’ Olistica</a:t>
            </a:r>
            <a:endParaRPr sz="700">
              <a:solidFill>
                <a:schemeClr val="dk1"/>
              </a:solidFill>
            </a:endParaRPr>
          </a:p>
        </p:txBody>
      </p:sp>
      <p:sp>
        <p:nvSpPr>
          <p:cNvPr id="71" name="Google Shape;71;p14"/>
          <p:cNvSpPr txBox="1"/>
          <p:nvPr/>
        </p:nvSpPr>
        <p:spPr>
          <a:xfrm>
            <a:off x="5288900" y="2188950"/>
            <a:ext cx="1219200" cy="1354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000">
                <a:solidFill>
                  <a:schemeClr val="dk2"/>
                </a:solidFill>
              </a:rPr>
              <a:t>8) Discriminator</a:t>
            </a:r>
            <a:r>
              <a:rPr b="1" lang="it" sz="1000">
                <a:solidFill>
                  <a:schemeClr val="dk2"/>
                </a:solidFill>
              </a:rPr>
              <a:t>:</a:t>
            </a:r>
            <a:endParaRPr b="1" sz="1000">
              <a:solidFill>
                <a:schemeClr val="dk2"/>
              </a:solidFill>
            </a:endParaRPr>
          </a:p>
          <a:p>
            <a:pPr indent="0" lvl="0" marL="0" rtl="0" algn="l">
              <a:spcBef>
                <a:spcPts val="0"/>
              </a:spcBef>
              <a:spcAft>
                <a:spcPts val="0"/>
              </a:spcAft>
              <a:buNone/>
            </a:pPr>
            <a:r>
              <a:t/>
            </a:r>
            <a:endParaRPr b="1" sz="300">
              <a:solidFill>
                <a:schemeClr val="dk2"/>
              </a:solidFill>
            </a:endParaRPr>
          </a:p>
          <a:p>
            <a:pPr indent="0" lvl="0" marL="0" rtl="0" algn="l">
              <a:spcBef>
                <a:spcPts val="0"/>
              </a:spcBef>
              <a:spcAft>
                <a:spcPts val="0"/>
              </a:spcAft>
              <a:buNone/>
            </a:pPr>
            <a:r>
              <a:rPr lang="it" sz="700">
                <a:solidFill>
                  <a:schemeClr val="dk2"/>
                </a:solidFill>
              </a:rPr>
              <a:t>L’unico custode della filiera siciliana che perfeziona l’arte della selezione e della trasformazione per catturare la forma più pura e autentica del piacere gourmet.</a:t>
            </a:r>
            <a:endParaRPr sz="700">
              <a:solidFill>
                <a:schemeClr val="dk2"/>
              </a:solidFill>
            </a:endParaRPr>
          </a:p>
          <a:p>
            <a:pPr indent="0" lvl="0" marL="0" rtl="0" algn="l">
              <a:spcBef>
                <a:spcPts val="0"/>
              </a:spcBef>
              <a:spcAft>
                <a:spcPts val="0"/>
              </a:spcAft>
              <a:buNone/>
            </a:pPr>
            <a:r>
              <a:rPr lang="it" sz="700">
                <a:solidFill>
                  <a:schemeClr val="dk2"/>
                </a:solidFill>
              </a:rPr>
              <a:t>…</a:t>
            </a:r>
            <a:endParaRPr sz="700">
              <a:solidFill>
                <a:schemeClr val="dk2"/>
              </a:solidFill>
            </a:endParaRPr>
          </a:p>
        </p:txBody>
      </p:sp>
      <p:sp>
        <p:nvSpPr>
          <p:cNvPr id="72" name="Google Shape;72;p14"/>
          <p:cNvSpPr txBox="1"/>
          <p:nvPr/>
        </p:nvSpPr>
        <p:spPr>
          <a:xfrm>
            <a:off x="5199975" y="82925"/>
            <a:ext cx="1300800" cy="166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 sz="1000">
                <a:solidFill>
                  <a:schemeClr val="dk2"/>
                </a:solidFill>
              </a:rPr>
              <a:t>7) Xche’ crederci</a:t>
            </a:r>
            <a:r>
              <a:rPr b="1" lang="it" sz="1000">
                <a:solidFill>
                  <a:schemeClr val="dk2"/>
                </a:solidFill>
              </a:rPr>
              <a:t>:</a:t>
            </a:r>
            <a:endParaRPr b="1" sz="1000">
              <a:solidFill>
                <a:schemeClr val="dk2"/>
              </a:solidFill>
            </a:endParaRPr>
          </a:p>
          <a:p>
            <a:pPr indent="0" lvl="0" marL="0" rtl="0" algn="l">
              <a:lnSpc>
                <a:spcPct val="115000"/>
              </a:lnSpc>
              <a:spcBef>
                <a:spcPts val="0"/>
              </a:spcBef>
              <a:spcAft>
                <a:spcPts val="0"/>
              </a:spcAft>
              <a:buNone/>
            </a:pPr>
            <a:r>
              <a:rPr lang="it" sz="700">
                <a:solidFill>
                  <a:srgbClr val="1F1F1F"/>
                </a:solidFill>
              </a:rPr>
              <a:t>1. Genesi Agricola selezionatori esperti</a:t>
            </a:r>
            <a:endParaRPr sz="700">
              <a:solidFill>
                <a:srgbClr val="1F1F1F"/>
              </a:solidFill>
            </a:endParaRPr>
          </a:p>
          <a:p>
            <a:pPr indent="0" lvl="0" marL="0" rtl="0" algn="l">
              <a:lnSpc>
                <a:spcPct val="115000"/>
              </a:lnSpc>
              <a:spcBef>
                <a:spcPts val="0"/>
              </a:spcBef>
              <a:spcAft>
                <a:spcPts val="0"/>
              </a:spcAft>
              <a:buNone/>
            </a:pPr>
            <a:r>
              <a:rPr lang="it" sz="700">
                <a:solidFill>
                  <a:srgbClr val="1F1F1F"/>
                </a:solidFill>
              </a:rPr>
              <a:t>2. Integrità di Filiera dal guscio al vasetto</a:t>
            </a:r>
            <a:endParaRPr sz="700">
              <a:solidFill>
                <a:srgbClr val="1F1F1F"/>
              </a:solidFill>
            </a:endParaRPr>
          </a:p>
          <a:p>
            <a:pPr indent="0" lvl="0" marL="0" rtl="0" algn="l">
              <a:lnSpc>
                <a:spcPct val="115000"/>
              </a:lnSpc>
              <a:spcBef>
                <a:spcPts val="0"/>
              </a:spcBef>
              <a:spcAft>
                <a:spcPts val="0"/>
              </a:spcAft>
              <a:buNone/>
            </a:pPr>
            <a:r>
              <a:rPr lang="it" sz="700">
                <a:solidFill>
                  <a:srgbClr val="1F1F1F"/>
                </a:solidFill>
              </a:rPr>
              <a:t>3. Trasparenza Territoriale</a:t>
            </a:r>
            <a:endParaRPr sz="700">
              <a:solidFill>
                <a:srgbClr val="1F1F1F"/>
              </a:solidFill>
            </a:endParaRPr>
          </a:p>
          <a:p>
            <a:pPr indent="0" lvl="0" marL="0" rtl="0" algn="ctr">
              <a:lnSpc>
                <a:spcPct val="115000"/>
              </a:lnSpc>
              <a:spcBef>
                <a:spcPts val="0"/>
              </a:spcBef>
              <a:spcAft>
                <a:spcPts val="0"/>
              </a:spcAft>
              <a:buNone/>
            </a:pPr>
            <a:r>
              <a:rPr lang="it" sz="700">
                <a:solidFill>
                  <a:srgbClr val="1F1F1F"/>
                </a:solidFill>
              </a:rPr>
              <a:t>4. Superiorità Analitica</a:t>
            </a:r>
            <a:endParaRPr sz="700">
              <a:solidFill>
                <a:srgbClr val="1F1F1F"/>
              </a:solidFill>
            </a:endParaRPr>
          </a:p>
          <a:p>
            <a:pPr indent="0" lvl="0" marL="0" rtl="0" algn="ctr">
              <a:lnSpc>
                <a:spcPct val="115000"/>
              </a:lnSpc>
              <a:spcBef>
                <a:spcPts val="0"/>
              </a:spcBef>
              <a:spcAft>
                <a:spcPts val="0"/>
              </a:spcAft>
              <a:buNone/>
            </a:pPr>
            <a:r>
              <a:rPr lang="it" sz="700">
                <a:solidFill>
                  <a:srgbClr val="1F1F1F"/>
                </a:solidFill>
              </a:rPr>
              <a:t>5. Ecosistema Circolare e sostenibile</a:t>
            </a:r>
            <a:endParaRPr sz="700">
              <a:solidFill>
                <a:srgbClr val="1F1F1F"/>
              </a:solidFill>
            </a:endParaRPr>
          </a:p>
          <a:p>
            <a:pPr indent="0" lvl="0" marL="0" rtl="0" algn="r">
              <a:lnSpc>
                <a:spcPct val="115000"/>
              </a:lnSpc>
              <a:spcBef>
                <a:spcPts val="0"/>
              </a:spcBef>
              <a:spcAft>
                <a:spcPts val="0"/>
              </a:spcAft>
              <a:buNone/>
            </a:pPr>
            <a:r>
              <a:rPr lang="it" sz="700">
                <a:solidFill>
                  <a:srgbClr val="1F1F1F"/>
                </a:solidFill>
              </a:rPr>
              <a:t>6. (60 paesi)</a:t>
            </a:r>
            <a:endParaRPr sz="700">
              <a:solidFill>
                <a:srgbClr val="1F1F1F"/>
              </a:solidFill>
            </a:endParaRPr>
          </a:p>
          <a:p>
            <a:pPr indent="0" lvl="0" marL="0" rtl="0" algn="l">
              <a:spcBef>
                <a:spcPts val="0"/>
              </a:spcBef>
              <a:spcAft>
                <a:spcPts val="0"/>
              </a:spcAft>
              <a:buNone/>
            </a:pPr>
            <a:r>
              <a:t/>
            </a:r>
            <a:endParaRPr sz="700">
              <a:solidFill>
                <a:schemeClr val="dk2"/>
              </a:solidFill>
            </a:endParaRPr>
          </a:p>
          <a:p>
            <a:pPr indent="0" lvl="0" marL="0" rtl="0" algn="l">
              <a:spcBef>
                <a:spcPts val="0"/>
              </a:spcBef>
              <a:spcAft>
                <a:spcPts val="0"/>
              </a:spcAft>
              <a:buNone/>
            </a:pPr>
            <a:r>
              <a:rPr lang="it" sz="700">
                <a:solidFill>
                  <a:schemeClr val="dk2"/>
                </a:solidFill>
              </a:rPr>
              <a:t>…</a:t>
            </a:r>
            <a:endParaRPr sz="7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graphicFrame>
        <p:nvGraphicFramePr>
          <p:cNvPr id="77" name="Google Shape;77;p15"/>
          <p:cNvGraphicFramePr/>
          <p:nvPr/>
        </p:nvGraphicFramePr>
        <p:xfrm>
          <a:off x="0" y="8626"/>
          <a:ext cx="3000000" cy="3000000"/>
        </p:xfrm>
        <a:graphic>
          <a:graphicData uri="http://schemas.openxmlformats.org/drawingml/2006/table">
            <a:tbl>
              <a:tblPr>
                <a:noFill/>
                <a:tableStyleId>{08454DD9-8CDB-42CD-A0AC-9FB1692D4590}</a:tableStyleId>
              </a:tblPr>
              <a:tblGrid>
                <a:gridCol w="1597525"/>
                <a:gridCol w="7620525"/>
              </a:tblGrid>
              <a:tr h="521325">
                <a:tc>
                  <a:txBody>
                    <a:bodyPr/>
                    <a:lstStyle/>
                    <a:p>
                      <a:pPr indent="0" lvl="0" marL="0" rtl="0" algn="l">
                        <a:lnSpc>
                          <a:spcPct val="115000"/>
                        </a:lnSpc>
                        <a:spcBef>
                          <a:spcPts val="0"/>
                        </a:spcBef>
                        <a:spcAft>
                          <a:spcPts val="0"/>
                        </a:spcAft>
                        <a:buNone/>
                      </a:pPr>
                      <a:r>
                        <a:rPr b="1" lang="it" sz="900">
                          <a:solidFill>
                            <a:srgbClr val="1F1F1F"/>
                          </a:solidFill>
                        </a:rPr>
                        <a:t>TARGET PRODUCT PROFILE</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b="1" lang="it" sz="1000">
                          <a:solidFill>
                            <a:srgbClr val="1F1F1F"/>
                          </a:solidFill>
                        </a:rPr>
                        <a:t>Descrizione del Profilo Scyavuru</a:t>
                      </a:r>
                      <a:endParaRPr b="1"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r>
              <a:tr h="579550">
                <a:tc>
                  <a:txBody>
                    <a:bodyPr/>
                    <a:lstStyle/>
                    <a:p>
                      <a:pPr indent="0" lvl="0" marL="0" rtl="0" algn="l">
                        <a:lnSpc>
                          <a:spcPct val="115000"/>
                        </a:lnSpc>
                        <a:spcBef>
                          <a:spcPts val="0"/>
                        </a:spcBef>
                        <a:spcAft>
                          <a:spcPts val="0"/>
                        </a:spcAft>
                        <a:buNone/>
                      </a:pPr>
                      <a:r>
                        <a:rPr b="1" lang="it" sz="1100">
                          <a:solidFill>
                            <a:srgbClr val="1F1F1F"/>
                          </a:solidFill>
                        </a:rPr>
                        <a:t>Describe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1000">
                          <a:solidFill>
                            <a:srgbClr val="1F1F1F"/>
                          </a:solidFill>
                        </a:rPr>
                        <a:t>Professionisti urbani internazionali, 40-65 anni, amanti dei viaggi e della cultura gastronomica. Frequentano boutique alimentari ed Eataly. Cercano il "lusso accessibile" e sono disposti a pagare un premium per la qualità reale.</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79550">
                <a:tc>
                  <a:txBody>
                    <a:bodyPr/>
                    <a:lstStyle/>
                    <a:p>
                      <a:pPr indent="0" lvl="0" marL="0" rtl="0" algn="l">
                        <a:lnSpc>
                          <a:spcPct val="115000"/>
                        </a:lnSpc>
                        <a:spcBef>
                          <a:spcPts val="0"/>
                        </a:spcBef>
                        <a:spcAft>
                          <a:spcPts val="0"/>
                        </a:spcAft>
                        <a:buNone/>
                      </a:pPr>
                      <a:r>
                        <a:rPr b="1" lang="it" sz="1100">
                          <a:solidFill>
                            <a:srgbClr val="1F1F1F"/>
                          </a:solidFill>
                        </a:rPr>
                        <a:t>Needs</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1000">
                          <a:solidFill>
                            <a:srgbClr val="1F1F1F"/>
                          </a:solidFill>
                        </a:rPr>
                        <a:t>Colazioni gourmet nel weekend, cene con amici dove vogliono stupire, regali di prestigio per occasioni speciali, o un momento di "coccola" serale di alta qualità.</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79550">
                <a:tc>
                  <a:txBody>
                    <a:bodyPr/>
                    <a:lstStyle/>
                    <a:p>
                      <a:pPr indent="0" lvl="0" marL="0" rtl="0" algn="l">
                        <a:lnSpc>
                          <a:spcPct val="115000"/>
                        </a:lnSpc>
                        <a:spcBef>
                          <a:spcPts val="0"/>
                        </a:spcBef>
                        <a:spcAft>
                          <a:spcPts val="0"/>
                        </a:spcAft>
                        <a:buNone/>
                      </a:pPr>
                      <a:r>
                        <a:rPr b="1" lang="it" sz="1100">
                          <a:solidFill>
                            <a:srgbClr val="1F1F1F"/>
                          </a:solidFill>
                        </a:rPr>
                        <a:t>Enemy</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1000">
                          <a:solidFill>
                            <a:srgbClr val="1F1F1F"/>
                          </a:solidFill>
                        </a:rPr>
                        <a:t>L'artificiosità industriale. Il "finto" prodotto italo/siciliano che sa molto di zucchero e aromi chimici. La delusione di un prezzo alto che non corrisponde a un sapore autentico.</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79550">
                <a:tc>
                  <a:txBody>
                    <a:bodyPr/>
                    <a:lstStyle/>
                    <a:p>
                      <a:pPr indent="0" lvl="0" marL="0" rtl="0" algn="l">
                        <a:lnSpc>
                          <a:spcPct val="115000"/>
                        </a:lnSpc>
                        <a:spcBef>
                          <a:spcPts val="0"/>
                        </a:spcBef>
                        <a:spcAft>
                          <a:spcPts val="0"/>
                        </a:spcAft>
                        <a:buNone/>
                      </a:pPr>
                      <a:r>
                        <a:rPr b="1" lang="it" sz="1100">
                          <a:solidFill>
                            <a:srgbClr val="1F1F1F"/>
                          </a:solidFill>
                        </a:rPr>
                        <a:t>Insights</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i="1" lang="it" sz="1000">
                          <a:solidFill>
                            <a:srgbClr val="1F1F1F"/>
                          </a:solidFill>
                        </a:rPr>
                        <a:t>"Ho smesso di cercare il risparmio, cerco l'emozione. Voglio un prodotto che quando lo apro mi ricordi il profumo della Sicilia vera, non una crema spalmabile qualunque. Voglio sostanza, non solo marketing."</a:t>
                      </a:r>
                      <a:endParaRPr i="1"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79550">
                <a:tc>
                  <a:txBody>
                    <a:bodyPr/>
                    <a:lstStyle/>
                    <a:p>
                      <a:pPr indent="0" lvl="0" marL="0" rtl="0" algn="l">
                        <a:lnSpc>
                          <a:spcPct val="115000"/>
                        </a:lnSpc>
                        <a:spcBef>
                          <a:spcPts val="0"/>
                        </a:spcBef>
                        <a:spcAft>
                          <a:spcPts val="0"/>
                        </a:spcAft>
                        <a:buNone/>
                      </a:pPr>
                      <a:r>
                        <a:rPr b="1" lang="it" sz="1100">
                          <a:solidFill>
                            <a:srgbClr val="1F1F1F"/>
                          </a:solidFill>
                        </a:rPr>
                        <a:t>Think Now</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1000">
                          <a:solidFill>
                            <a:srgbClr val="1F1F1F"/>
                          </a:solidFill>
                        </a:rPr>
                        <a:t>Conosce i brand premium commerciali (es. Lindt o creme di alta rotazione), ma inizia a percepire che manca qualcosa in termini di intensità e artigianalità.</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79550">
                <a:tc>
                  <a:txBody>
                    <a:bodyPr/>
                    <a:lstStyle/>
                    <a:p>
                      <a:pPr indent="0" lvl="0" marL="0" rtl="0" algn="l">
                        <a:lnSpc>
                          <a:spcPct val="115000"/>
                        </a:lnSpc>
                        <a:spcBef>
                          <a:spcPts val="0"/>
                        </a:spcBef>
                        <a:spcAft>
                          <a:spcPts val="0"/>
                        </a:spcAft>
                        <a:buNone/>
                      </a:pPr>
                      <a:r>
                        <a:rPr b="1" lang="it" sz="1100">
                          <a:solidFill>
                            <a:srgbClr val="1F1F1F"/>
                          </a:solidFill>
                        </a:rPr>
                        <a:t>Buying</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1000">
                          <a:solidFill>
                            <a:srgbClr val="1F1F1F"/>
                          </a:solidFill>
                        </a:rPr>
                        <a:t>Influenzato da recensioni gourmet, passaparola di amici "foodie", posizionamento in store d'eccellenza e l'estetica raffinata del packaging.</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1014200">
                <a:tc>
                  <a:txBody>
                    <a:bodyPr/>
                    <a:lstStyle/>
                    <a:p>
                      <a:pPr indent="0" lvl="0" marL="0" rtl="0" algn="l">
                        <a:lnSpc>
                          <a:spcPct val="115000"/>
                        </a:lnSpc>
                        <a:spcBef>
                          <a:spcPts val="0"/>
                        </a:spcBef>
                        <a:spcAft>
                          <a:spcPts val="0"/>
                        </a:spcAft>
                        <a:buNone/>
                      </a:pPr>
                      <a:r>
                        <a:rPr b="1" lang="it" sz="1100">
                          <a:solidFill>
                            <a:srgbClr val="1F1F1F"/>
                          </a:solidFill>
                        </a:rPr>
                        <a:t>We want them to think, feel, or do</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lang="it" sz="1000">
                          <a:solidFill>
                            <a:srgbClr val="1F1F1F"/>
                          </a:solidFill>
                        </a:rPr>
                        <a:t>• </a:t>
                      </a:r>
                      <a:r>
                        <a:rPr b="1" lang="it" sz="1000">
                          <a:solidFill>
                            <a:srgbClr val="1F1F1F"/>
                          </a:solidFill>
                        </a:rPr>
                        <a:t>See:</a:t>
                      </a:r>
                      <a:r>
                        <a:rPr lang="it" sz="1000">
                          <a:solidFill>
                            <a:srgbClr val="1F1F1F"/>
                          </a:solidFill>
                        </a:rPr>
                        <a:t> Notare Scyavuru come l'apice della trasformazione artigianale siciliana.</a:t>
                      </a:r>
                      <a:endParaRPr sz="1000">
                        <a:solidFill>
                          <a:srgbClr val="1F1F1F"/>
                        </a:solidFill>
                      </a:endParaRPr>
                    </a:p>
                    <a:p>
                      <a:pPr indent="0" lvl="0" marL="0" rtl="0" algn="l">
                        <a:lnSpc>
                          <a:spcPct val="100000"/>
                        </a:lnSpc>
                        <a:spcBef>
                          <a:spcPts val="0"/>
                        </a:spcBef>
                        <a:spcAft>
                          <a:spcPts val="0"/>
                        </a:spcAft>
                        <a:buNone/>
                      </a:pPr>
                      <a:r>
                        <a:rPr lang="it" sz="1000">
                          <a:solidFill>
                            <a:srgbClr val="1F1F1F"/>
                          </a:solidFill>
                        </a:rPr>
                        <a:t>• </a:t>
                      </a:r>
                      <a:r>
                        <a:rPr b="1" lang="it" sz="1000">
                          <a:solidFill>
                            <a:srgbClr val="1F1F1F"/>
                          </a:solidFill>
                        </a:rPr>
                        <a:t>Think:</a:t>
                      </a:r>
                      <a:r>
                        <a:rPr lang="it" sz="1000">
                          <a:solidFill>
                            <a:srgbClr val="1F1F1F"/>
                          </a:solidFill>
                        </a:rPr>
                        <a:t> "Questo è il vero sapore della frutta, controllata dall'inizio alla fine."</a:t>
                      </a:r>
                      <a:endParaRPr sz="1000">
                        <a:solidFill>
                          <a:srgbClr val="1F1F1F"/>
                        </a:solidFill>
                      </a:endParaRPr>
                    </a:p>
                    <a:p>
                      <a:pPr indent="0" lvl="0" marL="0" rtl="0" algn="l">
                        <a:lnSpc>
                          <a:spcPct val="100000"/>
                        </a:lnSpc>
                        <a:spcBef>
                          <a:spcPts val="0"/>
                        </a:spcBef>
                        <a:spcAft>
                          <a:spcPts val="0"/>
                        </a:spcAft>
                        <a:buNone/>
                      </a:pPr>
                      <a:r>
                        <a:rPr lang="it" sz="1000">
                          <a:solidFill>
                            <a:srgbClr val="1F1F1F"/>
                          </a:solidFill>
                        </a:rPr>
                        <a:t>• </a:t>
                      </a:r>
                      <a:r>
                        <a:rPr b="1" lang="it" sz="1000">
                          <a:solidFill>
                            <a:srgbClr val="1F1F1F"/>
                          </a:solidFill>
                        </a:rPr>
                        <a:t>Do:</a:t>
                      </a:r>
                      <a:r>
                        <a:rPr lang="it" sz="1000">
                          <a:solidFill>
                            <a:srgbClr val="1F1F1F"/>
                          </a:solidFill>
                        </a:rPr>
                        <a:t> Acquistare la crema al pistacchio come "prova" per poi passare alle confetture e salse.</a:t>
                      </a:r>
                      <a:endParaRPr sz="1000">
                        <a:solidFill>
                          <a:srgbClr val="1F1F1F"/>
                        </a:solidFill>
                      </a:endParaRPr>
                    </a:p>
                    <a:p>
                      <a:pPr indent="0" lvl="0" marL="0" rtl="0" algn="l">
                        <a:lnSpc>
                          <a:spcPct val="100000"/>
                        </a:lnSpc>
                        <a:spcBef>
                          <a:spcPts val="0"/>
                        </a:spcBef>
                        <a:spcAft>
                          <a:spcPts val="0"/>
                        </a:spcAft>
                        <a:buNone/>
                      </a:pPr>
                      <a:r>
                        <a:rPr lang="it" sz="1000">
                          <a:solidFill>
                            <a:srgbClr val="1F1F1F"/>
                          </a:solidFill>
                        </a:rPr>
                        <a:t>• </a:t>
                      </a:r>
                      <a:r>
                        <a:rPr b="1" lang="it" sz="1000">
                          <a:solidFill>
                            <a:srgbClr val="1F1F1F"/>
                          </a:solidFill>
                        </a:rPr>
                        <a:t>Feel:</a:t>
                      </a:r>
                      <a:r>
                        <a:rPr lang="it" sz="1000">
                          <a:solidFill>
                            <a:srgbClr val="1F1F1F"/>
                          </a:solidFill>
                        </a:rPr>
                        <a:t> Trasportato in Sicilia; orgoglioso di consumare un prodotto curato attentamente e superiore.</a:t>
                      </a:r>
                      <a:endParaRPr sz="1000">
                        <a:solidFill>
                          <a:srgbClr val="1F1F1F"/>
                        </a:solidFill>
                      </a:endParaRPr>
                    </a:p>
                    <a:p>
                      <a:pPr indent="0" lvl="0" marL="0" rtl="0" algn="l">
                        <a:lnSpc>
                          <a:spcPct val="100000"/>
                        </a:lnSpc>
                        <a:spcBef>
                          <a:spcPts val="0"/>
                        </a:spcBef>
                        <a:spcAft>
                          <a:spcPts val="0"/>
                        </a:spcAft>
                        <a:buNone/>
                      </a:pPr>
                      <a:r>
                        <a:rPr lang="it" sz="1000">
                          <a:solidFill>
                            <a:srgbClr val="1F1F1F"/>
                          </a:solidFill>
                        </a:rPr>
                        <a:t>• </a:t>
                      </a:r>
                      <a:r>
                        <a:rPr b="1" lang="it" sz="1000">
                          <a:solidFill>
                            <a:srgbClr val="1F1F1F"/>
                          </a:solidFill>
                        </a:rPr>
                        <a:t>Whisper:</a:t>
                      </a:r>
                      <a:r>
                        <a:rPr lang="it" sz="1000">
                          <a:solidFill>
                            <a:srgbClr val="1F1F1F"/>
                          </a:solidFill>
                        </a:rPr>
                        <a:t> Consigliare il brand come "il segreto meglio custodito" per un regalo perfetto.</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graphicFrame>
        <p:nvGraphicFramePr>
          <p:cNvPr id="82" name="Google Shape;82;p16"/>
          <p:cNvGraphicFramePr/>
          <p:nvPr/>
        </p:nvGraphicFramePr>
        <p:xfrm>
          <a:off x="19910" y="13398"/>
          <a:ext cx="3000000" cy="3000000"/>
        </p:xfrm>
        <a:graphic>
          <a:graphicData uri="http://schemas.openxmlformats.org/drawingml/2006/table">
            <a:tbl>
              <a:tblPr>
                <a:noFill/>
                <a:tableStyleId>{08454DD9-8CDB-42CD-A0AC-9FB1692D4590}</a:tableStyleId>
              </a:tblPr>
              <a:tblGrid>
                <a:gridCol w="1504950"/>
                <a:gridCol w="5103375"/>
                <a:gridCol w="2515775"/>
              </a:tblGrid>
              <a:tr h="301850">
                <a:tc>
                  <a:txBody>
                    <a:bodyPr/>
                    <a:lstStyle/>
                    <a:p>
                      <a:pPr indent="0" lvl="0" marL="0" rtl="0" algn="l">
                        <a:lnSpc>
                          <a:spcPct val="100000"/>
                        </a:lnSpc>
                        <a:spcBef>
                          <a:spcPts val="0"/>
                        </a:spcBef>
                        <a:spcAft>
                          <a:spcPts val="0"/>
                        </a:spcAft>
                        <a:buNone/>
                      </a:pPr>
                      <a:r>
                        <a:rPr b="1" lang="it" sz="1000">
                          <a:solidFill>
                            <a:srgbClr val="1F1F1F"/>
                          </a:solidFill>
                        </a:rPr>
                        <a:t>Zona</a:t>
                      </a:r>
                      <a:endParaRPr b="1"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b="1" lang="it" sz="1000">
                          <a:solidFill>
                            <a:srgbClr val="1F1F1F"/>
                          </a:solidFill>
                        </a:rPr>
                        <a:t>Benefici (Functional &amp; Emotional)</a:t>
                      </a:r>
                      <a:endParaRPr b="1"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00000"/>
                        </a:lnSpc>
                        <a:spcBef>
                          <a:spcPts val="0"/>
                        </a:spcBef>
                        <a:spcAft>
                          <a:spcPts val="0"/>
                        </a:spcAft>
                        <a:buNone/>
                      </a:pPr>
                      <a:r>
                        <a:rPr b="1" lang="it" sz="1000">
                          <a:solidFill>
                            <a:srgbClr val="1F1F1F"/>
                          </a:solidFill>
                        </a:rPr>
                        <a:t>Perché è in questa zona?</a:t>
                      </a:r>
                      <a:endParaRPr b="1"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r>
              <a:tr h="1051775">
                <a:tc>
                  <a:txBody>
                    <a:bodyPr/>
                    <a:lstStyle/>
                    <a:p>
                      <a:pPr indent="0" lvl="0" marL="0" rtl="0" algn="l">
                        <a:lnSpc>
                          <a:spcPct val="100000"/>
                        </a:lnSpc>
                        <a:spcBef>
                          <a:spcPts val="0"/>
                        </a:spcBef>
                        <a:spcAft>
                          <a:spcPts val="0"/>
                        </a:spcAft>
                        <a:buNone/>
                      </a:pPr>
                      <a:r>
                        <a:rPr b="1" lang="it" sz="1000">
                          <a:solidFill>
                            <a:srgbClr val="1F1F1F"/>
                          </a:solidFill>
                        </a:rPr>
                        <a:t>WINNING ZONE</a:t>
                      </a:r>
                      <a:endParaRPr b="1" sz="1000">
                        <a:solidFill>
                          <a:srgbClr val="1F1F1F"/>
                        </a:solidFill>
                      </a:endParaRPr>
                    </a:p>
                    <a:p>
                      <a:pPr indent="0" lvl="0" marL="0" rtl="0" algn="l">
                        <a:lnSpc>
                          <a:spcPct val="100000"/>
                        </a:lnSpc>
                        <a:spcBef>
                          <a:spcPts val="0"/>
                        </a:spcBef>
                        <a:spcAft>
                          <a:spcPts val="0"/>
                        </a:spcAft>
                        <a:buNone/>
                      </a:pPr>
                      <a:r>
                        <a:t/>
                      </a:r>
                      <a:endParaRPr sz="1000">
                        <a:solidFill>
                          <a:srgbClr val="1F1F1F"/>
                        </a:solidFill>
                      </a:endParaRPr>
                    </a:p>
                    <a:p>
                      <a:pPr indent="0" lvl="0" marL="0" rtl="0" algn="l">
                        <a:lnSpc>
                          <a:spcPct val="100000"/>
                        </a:lnSpc>
                        <a:spcBef>
                          <a:spcPts val="0"/>
                        </a:spcBef>
                        <a:spcAft>
                          <a:spcPts val="0"/>
                        </a:spcAft>
                        <a:buNone/>
                      </a:pPr>
                      <a:r>
                        <a:rPr i="1" lang="it" sz="1000">
                          <a:solidFill>
                            <a:srgbClr val="1F1F1F"/>
                          </a:solidFill>
                        </a:rPr>
                        <a:t>(Alta Motivazione + Alta Ownability)</a:t>
                      </a:r>
                      <a:endParaRPr i="1"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 sz="1000">
                          <a:solidFill>
                            <a:srgbClr val="1F1F1F"/>
                          </a:solidFill>
                        </a:rPr>
                        <a:t>1. Profilo Olfattivo "Scyavuru":</a:t>
                      </a:r>
                      <a:r>
                        <a:rPr lang="it" sz="1000">
                          <a:solidFill>
                            <a:srgbClr val="1F1F1F"/>
                          </a:solidFill>
                        </a:rPr>
                        <a:t> L'intensità aromatica del pistacchio tostato che si sprigiona all'apertura.</a:t>
                      </a:r>
                      <a:endParaRPr sz="1000">
                        <a:solidFill>
                          <a:srgbClr val="1F1F1F"/>
                        </a:solidFill>
                      </a:endParaRPr>
                    </a:p>
                    <a:p>
                      <a:pPr indent="0" lvl="0" marL="0" rtl="0" algn="l">
                        <a:lnSpc>
                          <a:spcPct val="100000"/>
                        </a:lnSpc>
                        <a:spcBef>
                          <a:spcPts val="0"/>
                        </a:spcBef>
                        <a:spcAft>
                          <a:spcPts val="0"/>
                        </a:spcAft>
                        <a:buNone/>
                      </a:pPr>
                      <a:r>
                        <a:rPr b="1" lang="it" sz="1000">
                          <a:solidFill>
                            <a:srgbClr val="1F1F1F"/>
                          </a:solidFill>
                        </a:rPr>
                        <a:t>2. Controllo "Shell-to-Jar":</a:t>
                      </a:r>
                      <a:r>
                        <a:rPr lang="it" sz="1000">
                          <a:solidFill>
                            <a:srgbClr val="1F1F1F"/>
                          </a:solidFill>
                        </a:rPr>
                        <a:t> La capacità tecnica unica di partire dal frutto in guscio e non da semilavorati industriali.</a:t>
                      </a:r>
                      <a:endParaRPr sz="1000">
                        <a:solidFill>
                          <a:srgbClr val="1F1F1F"/>
                        </a:solidFill>
                      </a:endParaRPr>
                    </a:p>
                    <a:p>
                      <a:pPr indent="0" lvl="0" marL="0" rtl="0" algn="l">
                        <a:lnSpc>
                          <a:spcPct val="100000"/>
                        </a:lnSpc>
                        <a:spcBef>
                          <a:spcPts val="0"/>
                        </a:spcBef>
                        <a:spcAft>
                          <a:spcPts val="0"/>
                        </a:spcAft>
                        <a:buNone/>
                      </a:pPr>
                      <a:r>
                        <a:rPr b="1" lang="it" sz="1000">
                          <a:solidFill>
                            <a:srgbClr val="1F1F1F"/>
                          </a:solidFill>
                        </a:rPr>
                        <a:t>3. Trasporto Emotivo in Sicilia:</a:t>
                      </a:r>
                      <a:r>
                        <a:rPr lang="it" sz="1000">
                          <a:solidFill>
                            <a:srgbClr val="1F1F1F"/>
                          </a:solidFill>
                        </a:rPr>
                        <a:t> L'insight del "viaggio istantaneo" che nessun brand internazionale può replicare.</a:t>
                      </a:r>
                      <a:endParaRPr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it" sz="1000">
                          <a:solidFill>
                            <a:srgbClr val="1F1F1F"/>
                          </a:solidFill>
                        </a:rPr>
                        <a:t>È il cuore del vantaggio competitivo. Nessun concorrente "Italian Sounding" può garantire questa coerenza sensoriale perché non controlla la trasformazione primaria.</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920575">
                <a:tc>
                  <a:txBody>
                    <a:bodyPr/>
                    <a:lstStyle/>
                    <a:p>
                      <a:pPr indent="0" lvl="0" marL="0" rtl="0" algn="l">
                        <a:lnSpc>
                          <a:spcPct val="100000"/>
                        </a:lnSpc>
                        <a:spcBef>
                          <a:spcPts val="0"/>
                        </a:spcBef>
                        <a:spcAft>
                          <a:spcPts val="0"/>
                        </a:spcAft>
                        <a:buNone/>
                      </a:pPr>
                      <a:r>
                        <a:rPr b="1" lang="it" sz="1000">
                          <a:solidFill>
                            <a:srgbClr val="1F1F1F"/>
                          </a:solidFill>
                        </a:rPr>
                        <a:t>LOSING ZONE</a:t>
                      </a:r>
                      <a:endParaRPr b="1" sz="1000">
                        <a:solidFill>
                          <a:srgbClr val="1F1F1F"/>
                        </a:solidFill>
                      </a:endParaRPr>
                    </a:p>
                    <a:p>
                      <a:pPr indent="0" lvl="0" marL="0" rtl="0" algn="l">
                        <a:lnSpc>
                          <a:spcPct val="100000"/>
                        </a:lnSpc>
                        <a:spcBef>
                          <a:spcPts val="0"/>
                        </a:spcBef>
                        <a:spcAft>
                          <a:spcPts val="0"/>
                        </a:spcAft>
                        <a:buNone/>
                      </a:pPr>
                      <a:r>
                        <a:t/>
                      </a:r>
                      <a:endParaRPr sz="1000">
                        <a:solidFill>
                          <a:srgbClr val="1F1F1F"/>
                        </a:solidFill>
                      </a:endParaRPr>
                    </a:p>
                    <a:p>
                      <a:pPr indent="0" lvl="0" marL="0" rtl="0" algn="l">
                        <a:lnSpc>
                          <a:spcPct val="100000"/>
                        </a:lnSpc>
                        <a:spcBef>
                          <a:spcPts val="0"/>
                        </a:spcBef>
                        <a:spcAft>
                          <a:spcPts val="0"/>
                        </a:spcAft>
                        <a:buNone/>
                      </a:pPr>
                      <a:r>
                        <a:rPr i="1" lang="it" sz="1000">
                          <a:solidFill>
                            <a:srgbClr val="1F1F1F"/>
                          </a:solidFill>
                        </a:rPr>
                        <a:t>(Alta Motivazione + Bassa Ownability)</a:t>
                      </a:r>
                      <a:endParaRPr i="1"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b="1" lang="it" sz="1000">
                          <a:solidFill>
                            <a:srgbClr val="1F1F1F"/>
                          </a:solidFill>
                        </a:rPr>
                        <a:t>1. Alta % di Pistacchio:</a:t>
                      </a:r>
                      <a:r>
                        <a:rPr lang="it" sz="1000">
                          <a:solidFill>
                            <a:srgbClr val="1F1F1F"/>
                          </a:solidFill>
                        </a:rPr>
                        <a:t> Fondamentale, ma ormai dichiarata da tutti (anche se con qualità diverse).</a:t>
                      </a:r>
                      <a:endParaRPr sz="1000">
                        <a:solidFill>
                          <a:srgbClr val="1F1F1F"/>
                        </a:solidFill>
                      </a:endParaRPr>
                    </a:p>
                    <a:p>
                      <a:pPr indent="0" lvl="0" marL="0" marR="0" rtl="0" algn="l">
                        <a:lnSpc>
                          <a:spcPct val="100000"/>
                        </a:lnSpc>
                        <a:spcBef>
                          <a:spcPts val="0"/>
                        </a:spcBef>
                        <a:spcAft>
                          <a:spcPts val="0"/>
                        </a:spcAft>
                        <a:buNone/>
                      </a:pPr>
                      <a:r>
                        <a:rPr b="1" lang="it" sz="1000">
                          <a:solidFill>
                            <a:srgbClr val="1F1F1F"/>
                          </a:solidFill>
                        </a:rPr>
                        <a:t>2. Senza Grassi Idrogenati / OGM:</a:t>
                      </a:r>
                      <a:r>
                        <a:rPr lang="it" sz="1000">
                          <a:solidFill>
                            <a:srgbClr val="1F1F1F"/>
                          </a:solidFill>
                        </a:rPr>
                        <a:t> Uno standard scontato per il  segmento Gourmet.</a:t>
                      </a:r>
                      <a:endParaRPr sz="1000">
                        <a:solidFill>
                          <a:srgbClr val="1F1F1F"/>
                        </a:solidFill>
                      </a:endParaRPr>
                    </a:p>
                    <a:p>
                      <a:pPr indent="0" lvl="0" marL="0" marR="0" rtl="0" algn="l">
                        <a:lnSpc>
                          <a:spcPct val="100000"/>
                        </a:lnSpc>
                        <a:spcBef>
                          <a:spcPts val="0"/>
                        </a:spcBef>
                        <a:spcAft>
                          <a:spcPts val="0"/>
                        </a:spcAft>
                        <a:buNone/>
                      </a:pPr>
                      <a:r>
                        <a:rPr b="1" lang="it" sz="1000">
                          <a:solidFill>
                            <a:srgbClr val="1F1F1F"/>
                          </a:solidFill>
                        </a:rPr>
                        <a:t>3. Made in Italy:</a:t>
                      </a:r>
                      <a:r>
                        <a:rPr lang="it" sz="1000">
                          <a:solidFill>
                            <a:srgbClr val="1F1F1F"/>
                          </a:solidFill>
                        </a:rPr>
                        <a:t> Un valore altissimo, ma condiviso con migliaia di altri prodotti.</a:t>
                      </a:r>
                      <a:endParaRPr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it" sz="1000">
                          <a:solidFill>
                            <a:srgbClr val="1F1F1F"/>
                          </a:solidFill>
                        </a:rPr>
                        <a:t>Sono i "prezzi d'ingresso" (table stakes). Se non li hai sei fuori, ma averli non basta per vincere perché i competitor dicono le stesse cose.</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1212775">
                <a:tc>
                  <a:txBody>
                    <a:bodyPr/>
                    <a:lstStyle/>
                    <a:p>
                      <a:pPr indent="0" lvl="0" marL="0" rtl="0" algn="l">
                        <a:lnSpc>
                          <a:spcPct val="100000"/>
                        </a:lnSpc>
                        <a:spcBef>
                          <a:spcPts val="0"/>
                        </a:spcBef>
                        <a:spcAft>
                          <a:spcPts val="0"/>
                        </a:spcAft>
                        <a:buNone/>
                      </a:pPr>
                      <a:r>
                        <a:rPr b="1" lang="it" sz="1000">
                          <a:solidFill>
                            <a:srgbClr val="1F1F1F"/>
                          </a:solidFill>
                        </a:rPr>
                        <a:t>RISKY ZONE</a:t>
                      </a:r>
                      <a:endParaRPr b="1" sz="1000">
                        <a:solidFill>
                          <a:srgbClr val="1F1F1F"/>
                        </a:solidFill>
                      </a:endParaRPr>
                    </a:p>
                    <a:p>
                      <a:pPr indent="0" lvl="0" marL="0" rtl="0" algn="l">
                        <a:lnSpc>
                          <a:spcPct val="100000"/>
                        </a:lnSpc>
                        <a:spcBef>
                          <a:spcPts val="0"/>
                        </a:spcBef>
                        <a:spcAft>
                          <a:spcPts val="0"/>
                        </a:spcAft>
                        <a:buNone/>
                      </a:pPr>
                      <a:r>
                        <a:t/>
                      </a:r>
                      <a:endParaRPr sz="1000">
                        <a:solidFill>
                          <a:srgbClr val="1F1F1F"/>
                        </a:solidFill>
                      </a:endParaRPr>
                    </a:p>
                    <a:p>
                      <a:pPr indent="0" lvl="0" marL="0" rtl="0" algn="l">
                        <a:lnSpc>
                          <a:spcPct val="100000"/>
                        </a:lnSpc>
                        <a:spcBef>
                          <a:spcPts val="0"/>
                        </a:spcBef>
                        <a:spcAft>
                          <a:spcPts val="0"/>
                        </a:spcAft>
                        <a:buNone/>
                      </a:pPr>
                      <a:r>
                        <a:rPr i="1" lang="it" sz="1000">
                          <a:solidFill>
                            <a:srgbClr val="1F1F1F"/>
                          </a:solidFill>
                        </a:rPr>
                        <a:t>(Bassa Motivazione + Alta Ownability)</a:t>
                      </a:r>
                      <a:endParaRPr i="1"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it" sz="1000">
                          <a:solidFill>
                            <a:srgbClr val="1F1F1F"/>
                          </a:solidFill>
                        </a:rPr>
                        <a:t>1. Heritage di 80 anni:</a:t>
                      </a:r>
                      <a:r>
                        <a:rPr lang="it" sz="1000">
                          <a:solidFill>
                            <a:srgbClr val="1F1F1F"/>
                          </a:solidFill>
                        </a:rPr>
                        <a:t> La storia è unica, ma al consumatore moderno interessa più il sapore attuale che il passato.</a:t>
                      </a:r>
                      <a:endParaRPr sz="1000">
                        <a:solidFill>
                          <a:srgbClr val="1F1F1F"/>
                        </a:solidFill>
                      </a:endParaRPr>
                    </a:p>
                    <a:p>
                      <a:pPr indent="0" lvl="0" marL="0" rtl="0" algn="l">
                        <a:lnSpc>
                          <a:spcPct val="100000"/>
                        </a:lnSpc>
                        <a:spcBef>
                          <a:spcPts val="0"/>
                        </a:spcBef>
                        <a:spcAft>
                          <a:spcPts val="0"/>
                        </a:spcAft>
                        <a:buNone/>
                      </a:pPr>
                      <a:r>
                        <a:rPr b="1" lang="it" sz="1000">
                          <a:solidFill>
                            <a:srgbClr val="1F1F1F"/>
                          </a:solidFill>
                        </a:rPr>
                        <a:t>2. Packaging Minimalista/Elegante:</a:t>
                      </a:r>
                      <a:r>
                        <a:rPr lang="it" sz="1000">
                          <a:solidFill>
                            <a:srgbClr val="1F1F1F"/>
                          </a:solidFill>
                        </a:rPr>
                        <a:t> Distintivo, ma se il contenuto delude, il vasetto bello diventa un limite.</a:t>
                      </a:r>
                      <a:endParaRPr sz="1000">
                        <a:solidFill>
                          <a:srgbClr val="1F1F1F"/>
                        </a:solidFill>
                      </a:endParaRPr>
                    </a:p>
                    <a:p>
                      <a:pPr indent="0" lvl="0" marL="0" rtl="0" algn="l">
                        <a:lnSpc>
                          <a:spcPct val="100000"/>
                        </a:lnSpc>
                        <a:spcBef>
                          <a:spcPts val="0"/>
                        </a:spcBef>
                        <a:spcAft>
                          <a:spcPts val="0"/>
                        </a:spcAft>
                        <a:buNone/>
                      </a:pPr>
                      <a:r>
                        <a:rPr b="1" lang="it" sz="1000">
                          <a:solidFill>
                            <a:srgbClr val="1F1F1F"/>
                          </a:solidFill>
                        </a:rPr>
                        <a:t>3. Ricetta Ventennale:</a:t>
                      </a:r>
                      <a:r>
                        <a:rPr lang="it" sz="1000">
                          <a:solidFill>
                            <a:srgbClr val="1F1F1F"/>
                          </a:solidFill>
                        </a:rPr>
                        <a:t> Un asset forte, ma percepito come "tecnico" più che emozionale.</a:t>
                      </a:r>
                      <a:endParaRPr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it" sz="1000">
                          <a:solidFill>
                            <a:srgbClr val="1F1F1F"/>
                          </a:solidFill>
                        </a:rPr>
                        <a:t>Sono elementi che supportano la credibilità (RTB), ma non spingono da soli l'acquisto impulsivo o la fedeltà se il beneficio principale manca.</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1115900">
                <a:tc>
                  <a:txBody>
                    <a:bodyPr/>
                    <a:lstStyle/>
                    <a:p>
                      <a:pPr indent="0" lvl="0" marL="0" rtl="0" algn="l">
                        <a:lnSpc>
                          <a:spcPct val="100000"/>
                        </a:lnSpc>
                        <a:spcBef>
                          <a:spcPts val="0"/>
                        </a:spcBef>
                        <a:spcAft>
                          <a:spcPts val="0"/>
                        </a:spcAft>
                        <a:buNone/>
                      </a:pPr>
                      <a:r>
                        <a:rPr b="1" lang="it" sz="1000">
                          <a:solidFill>
                            <a:srgbClr val="1F1F1F"/>
                          </a:solidFill>
                        </a:rPr>
                        <a:t>DUMB ZONE</a:t>
                      </a:r>
                      <a:endParaRPr b="1" sz="1000">
                        <a:solidFill>
                          <a:srgbClr val="1F1F1F"/>
                        </a:solidFill>
                      </a:endParaRPr>
                    </a:p>
                    <a:p>
                      <a:pPr indent="0" lvl="0" marL="0" rtl="0" algn="l">
                        <a:lnSpc>
                          <a:spcPct val="100000"/>
                        </a:lnSpc>
                        <a:spcBef>
                          <a:spcPts val="0"/>
                        </a:spcBef>
                        <a:spcAft>
                          <a:spcPts val="0"/>
                        </a:spcAft>
                        <a:buNone/>
                      </a:pPr>
                      <a:r>
                        <a:t/>
                      </a:r>
                      <a:endParaRPr sz="1000">
                        <a:solidFill>
                          <a:srgbClr val="1F1F1F"/>
                        </a:solidFill>
                      </a:endParaRPr>
                    </a:p>
                    <a:p>
                      <a:pPr indent="0" lvl="0" marL="0" rtl="0" algn="l">
                        <a:lnSpc>
                          <a:spcPct val="100000"/>
                        </a:lnSpc>
                        <a:spcBef>
                          <a:spcPts val="0"/>
                        </a:spcBef>
                        <a:spcAft>
                          <a:spcPts val="0"/>
                        </a:spcAft>
                        <a:buNone/>
                      </a:pPr>
                      <a:r>
                        <a:rPr i="1" lang="it" sz="1000">
                          <a:solidFill>
                            <a:srgbClr val="1F1F1F"/>
                          </a:solidFill>
                        </a:rPr>
                        <a:t>(Bassa Motivazione + Bassa Ownability)</a:t>
                      </a:r>
                      <a:endParaRPr i="1"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00000"/>
                        </a:lnSpc>
                        <a:spcBef>
                          <a:spcPts val="0"/>
                        </a:spcBef>
                        <a:spcAft>
                          <a:spcPts val="0"/>
                        </a:spcAft>
                        <a:buNone/>
                      </a:pPr>
                      <a:r>
                        <a:rPr b="1" lang="it" sz="1000">
                          <a:solidFill>
                            <a:srgbClr val="1F1F1F"/>
                          </a:solidFill>
                        </a:rPr>
                        <a:t>1. Convenienza di Prezzo:</a:t>
                      </a:r>
                      <a:r>
                        <a:rPr lang="it" sz="1000">
                          <a:solidFill>
                            <a:srgbClr val="1F1F1F"/>
                          </a:solidFill>
                        </a:rPr>
                        <a:t> Per il tuo target, il prezzo basso è sinonimo di bassa qualità.</a:t>
                      </a:r>
                      <a:endParaRPr sz="1000">
                        <a:solidFill>
                          <a:srgbClr val="1F1F1F"/>
                        </a:solidFill>
                      </a:endParaRPr>
                    </a:p>
                    <a:p>
                      <a:pPr indent="0" lvl="0" marL="0" rtl="0" algn="l">
                        <a:lnSpc>
                          <a:spcPct val="100000"/>
                        </a:lnSpc>
                        <a:spcBef>
                          <a:spcPts val="0"/>
                        </a:spcBef>
                        <a:spcAft>
                          <a:spcPts val="0"/>
                        </a:spcAft>
                        <a:buNone/>
                      </a:pPr>
                      <a:r>
                        <a:rPr b="1" lang="it" sz="1000">
                          <a:solidFill>
                            <a:srgbClr val="1F1F1F"/>
                          </a:solidFill>
                        </a:rPr>
                        <a:t>2. Reperibilità nei Supermercati:</a:t>
                      </a:r>
                      <a:r>
                        <a:rPr lang="it" sz="1000">
                          <a:solidFill>
                            <a:srgbClr val="1F1F1F"/>
                          </a:solidFill>
                        </a:rPr>
                        <a:t> Essere ovunque distrugge l'aura di "boutique" del brand.</a:t>
                      </a:r>
                      <a:endParaRPr sz="1000">
                        <a:solidFill>
                          <a:srgbClr val="1F1F1F"/>
                        </a:solidFill>
                      </a:endParaRPr>
                    </a:p>
                    <a:p>
                      <a:pPr indent="0" lvl="0" marL="0" rtl="0" algn="l">
                        <a:lnSpc>
                          <a:spcPct val="100000"/>
                        </a:lnSpc>
                        <a:spcBef>
                          <a:spcPts val="0"/>
                        </a:spcBef>
                        <a:spcAft>
                          <a:spcPts val="0"/>
                        </a:spcAft>
                        <a:buNone/>
                      </a:pPr>
                      <a:r>
                        <a:rPr b="1" lang="it" sz="1000">
                          <a:solidFill>
                            <a:srgbClr val="1F1F1F"/>
                          </a:solidFill>
                        </a:rPr>
                        <a:t>3. Versatilità Multiuso:</a:t>
                      </a:r>
                      <a:r>
                        <a:rPr lang="it" sz="1000">
                          <a:solidFill>
                            <a:srgbClr val="1F1F1F"/>
                          </a:solidFill>
                        </a:rPr>
                        <a:t> Troppi utilizzi (es. "buona anche sul pane comune") sviliscono il prodotto.</a:t>
                      </a:r>
                      <a:endParaRPr sz="10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marR="0" rtl="0" algn="l">
                        <a:lnSpc>
                          <a:spcPct val="100000"/>
                        </a:lnSpc>
                        <a:spcBef>
                          <a:spcPts val="0"/>
                        </a:spcBef>
                        <a:spcAft>
                          <a:spcPts val="0"/>
                        </a:spcAft>
                        <a:buNone/>
                      </a:pPr>
                      <a:r>
                        <a:rPr lang="it" sz="1000">
                          <a:solidFill>
                            <a:srgbClr val="1F1F1F"/>
                          </a:solidFill>
                        </a:rPr>
                        <a:t>Inseguire queste leve porterebbe Scyavuru a combattere con i giganti industriali, perdendo la propria identità Gourmet.</a:t>
                      </a:r>
                      <a:endParaRPr sz="10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ADD ON SUGGERITI DA AI</a:t>
            </a:r>
            <a:endParaRPr/>
          </a:p>
        </p:txBody>
      </p:sp>
      <p:sp>
        <p:nvSpPr>
          <p:cNvPr id="88" name="Google Shape;88;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it" sz="1300">
                <a:solidFill>
                  <a:schemeClr val="dk1"/>
                </a:solidFill>
              </a:rPr>
              <a:t>Arricchimento della lista: i nuovi "Value Drivers"</a:t>
            </a:r>
            <a:endParaRPr b="1" sz="1300">
              <a:solidFill>
                <a:schemeClr val="dk1"/>
              </a:solidFill>
            </a:endParaRPr>
          </a:p>
          <a:p>
            <a:pPr indent="0" lvl="0" marL="0" rtl="0" algn="l">
              <a:spcBef>
                <a:spcPts val="1200"/>
              </a:spcBef>
              <a:spcAft>
                <a:spcPts val="0"/>
              </a:spcAft>
              <a:buClr>
                <a:schemeClr val="dk1"/>
              </a:buClr>
              <a:buSzPts val="1100"/>
              <a:buFont typeface="Arial"/>
              <a:buNone/>
            </a:pPr>
            <a:r>
              <a:rPr lang="it" sz="1100">
                <a:solidFill>
                  <a:schemeClr val="dk1"/>
                </a:solidFill>
              </a:rPr>
              <a:t>Per rendere la tua presentazione in Gamma ancora più solida, ho aggiunto questi benefici specifici che emergono dal mercato 2026:</a:t>
            </a:r>
            <a:endParaRPr sz="1100">
              <a:solidFill>
                <a:schemeClr val="dk1"/>
              </a:solidFill>
            </a:endParaRPr>
          </a:p>
          <a:p>
            <a:pPr indent="-298450" lvl="0" marL="457200" rtl="0" algn="l">
              <a:spcBef>
                <a:spcPts val="1200"/>
              </a:spcBef>
              <a:spcAft>
                <a:spcPts val="0"/>
              </a:spcAft>
              <a:buClr>
                <a:schemeClr val="dk1"/>
              </a:buClr>
              <a:buSzPts val="1100"/>
              <a:buChar char="●"/>
            </a:pPr>
            <a:r>
              <a:rPr b="1" lang="it" sz="1100">
                <a:solidFill>
                  <a:schemeClr val="dk1"/>
                </a:solidFill>
              </a:rPr>
              <a:t>Functional - "Clean Label Mastery":</a:t>
            </a:r>
            <a:r>
              <a:rPr lang="it" sz="1100">
                <a:solidFill>
                  <a:schemeClr val="dk1"/>
                </a:solidFill>
              </a:rPr>
              <a:t> Non solo "senza grassi cattivi", ma una lista ingredienti cortissima che comunica onestà immediata al consumatore che legge l'etichetta.</a:t>
            </a:r>
            <a:endParaRPr sz="1100">
              <a:solidFill>
                <a:schemeClr val="dk1"/>
              </a:solidFill>
            </a:endParaRPr>
          </a:p>
          <a:p>
            <a:pPr indent="-298450" lvl="0" marL="457200" rtl="0" algn="l">
              <a:spcBef>
                <a:spcPts val="0"/>
              </a:spcBef>
              <a:spcAft>
                <a:spcPts val="0"/>
              </a:spcAft>
              <a:buClr>
                <a:schemeClr val="dk1"/>
              </a:buClr>
              <a:buSzPts val="1100"/>
              <a:buChar char="●"/>
            </a:pPr>
            <a:r>
              <a:rPr b="1" lang="it" sz="1100">
                <a:solidFill>
                  <a:schemeClr val="dk1"/>
                </a:solidFill>
              </a:rPr>
              <a:t>Functional - "Chef-Grade Texture":</a:t>
            </a:r>
            <a:r>
              <a:rPr lang="it" sz="1100">
                <a:solidFill>
                  <a:schemeClr val="dk1"/>
                </a:solidFill>
              </a:rPr>
              <a:t> Una granulosità finissima che permette l'uso in pasticceria domestica di alto livello, differenziandosi dalle creme troppo "oleose" dei competitor.</a:t>
            </a:r>
            <a:endParaRPr sz="1100">
              <a:solidFill>
                <a:schemeClr val="dk1"/>
              </a:solidFill>
            </a:endParaRPr>
          </a:p>
          <a:p>
            <a:pPr indent="-298450" lvl="0" marL="457200" rtl="0" algn="l">
              <a:spcBef>
                <a:spcPts val="0"/>
              </a:spcBef>
              <a:spcAft>
                <a:spcPts val="0"/>
              </a:spcAft>
              <a:buClr>
                <a:schemeClr val="dk1"/>
              </a:buClr>
              <a:buSzPts val="1100"/>
              <a:buChar char="●"/>
            </a:pPr>
            <a:r>
              <a:rPr b="1" lang="it" sz="1100">
                <a:solidFill>
                  <a:schemeClr val="dk1"/>
                </a:solidFill>
              </a:rPr>
              <a:t>Emotional - "Ethical Pride":</a:t>
            </a:r>
            <a:r>
              <a:rPr lang="it" sz="1100">
                <a:solidFill>
                  <a:schemeClr val="dk1"/>
                </a:solidFill>
              </a:rPr>
              <a:t> Sapere che acquistando Scyavuru si sostiene un'economia locale siciliana reale, contrastando le multinazionali che usano il nome "Sicilia" solo per marketing.</a:t>
            </a:r>
            <a:endParaRPr sz="1100">
              <a:solidFill>
                <a:schemeClr val="dk1"/>
              </a:solidFill>
            </a:endParaRPr>
          </a:p>
          <a:p>
            <a:pPr indent="-298450" lvl="0" marL="457200" rtl="0" algn="l">
              <a:spcBef>
                <a:spcPts val="0"/>
              </a:spcBef>
              <a:spcAft>
                <a:spcPts val="0"/>
              </a:spcAft>
              <a:buClr>
                <a:schemeClr val="dk1"/>
              </a:buClr>
              <a:buSzPts val="1100"/>
              <a:buChar char="●"/>
            </a:pPr>
            <a:r>
              <a:rPr b="1" lang="it" sz="1100">
                <a:solidFill>
                  <a:schemeClr val="dk1"/>
                </a:solidFill>
              </a:rPr>
              <a:t>Emotional - "The Discovery Factor":</a:t>
            </a:r>
            <a:r>
              <a:rPr lang="it" sz="1100">
                <a:solidFill>
                  <a:schemeClr val="dk1"/>
                </a:solidFill>
              </a:rPr>
              <a:t> Il piacere di aver scoperto un "tesoro nascosto" artigianale da condividere con gli amici, posizionandosi come un esperto (Connoisseur).</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5: TOP 3 benefici Funzionali: sceglierne 2</a:t>
            </a:r>
            <a:endParaRPr/>
          </a:p>
        </p:txBody>
      </p:sp>
      <p:graphicFrame>
        <p:nvGraphicFramePr>
          <p:cNvPr id="94" name="Google Shape;94;p18"/>
          <p:cNvGraphicFramePr/>
          <p:nvPr/>
        </p:nvGraphicFramePr>
        <p:xfrm>
          <a:off x="98485" y="1446362"/>
          <a:ext cx="3000000" cy="3000000"/>
        </p:xfrm>
        <a:graphic>
          <a:graphicData uri="http://schemas.openxmlformats.org/drawingml/2006/table">
            <a:tbl>
              <a:tblPr>
                <a:noFill/>
                <a:tableStyleId>{08454DD9-8CDB-42CD-A0AC-9FB1692D4590}</a:tableStyleId>
              </a:tblPr>
              <a:tblGrid>
                <a:gridCol w="1352550"/>
                <a:gridCol w="4057650"/>
                <a:gridCol w="3581400"/>
              </a:tblGrid>
              <a:tr h="666750">
                <a:tc>
                  <a:txBody>
                    <a:bodyPr/>
                    <a:lstStyle/>
                    <a:p>
                      <a:pPr indent="0" lvl="0" marL="0" rtl="0" algn="l">
                        <a:lnSpc>
                          <a:spcPct val="115000"/>
                        </a:lnSpc>
                        <a:spcBef>
                          <a:spcPts val="0"/>
                        </a:spcBef>
                        <a:spcAft>
                          <a:spcPts val="0"/>
                        </a:spcAft>
                        <a:buNone/>
                      </a:pPr>
                      <a:r>
                        <a:rPr b="1" lang="it" sz="1100">
                          <a:solidFill>
                            <a:srgbClr val="1F1F1F"/>
                          </a:solidFill>
                        </a:rPr>
                        <a:t>Beneficio </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it" sz="1100">
                          <a:solidFill>
                            <a:srgbClr val="1F1F1F"/>
                          </a:solidFill>
                        </a:rPr>
                        <a:t>Perché è importante per il Target?</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it" sz="1100">
                          <a:solidFill>
                            <a:srgbClr val="1F1F1F"/>
                          </a:solidFill>
                        </a:rPr>
                        <a:t>Perché è Ownable per Scyavuru?</a:t>
                      </a:r>
                      <a:endParaRPr b="1"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r>
              <a:tr h="847725">
                <a:tc>
                  <a:txBody>
                    <a:bodyPr/>
                    <a:lstStyle/>
                    <a:p>
                      <a:pPr indent="0" lvl="0" marL="0" rtl="0" algn="l">
                        <a:lnSpc>
                          <a:spcPct val="115000"/>
                        </a:lnSpc>
                        <a:spcBef>
                          <a:spcPts val="0"/>
                        </a:spcBef>
                        <a:spcAft>
                          <a:spcPts val="0"/>
                        </a:spcAft>
                        <a:buNone/>
                      </a:pPr>
                      <a:r>
                        <a:rPr b="1" lang="it" sz="1100">
                          <a:solidFill>
                            <a:srgbClr val="1F1F1F"/>
                          </a:solidFill>
                        </a:rPr>
                        <a:t>1. Sensory Appeal+</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Il consumatore cerca un'esperienza palatale "piena e pura". Colore, profumo (</a:t>
                      </a:r>
                      <a:r>
                        <a:rPr i="1" lang="it" sz="1100">
                          <a:solidFill>
                            <a:srgbClr val="1F1F1F"/>
                          </a:solidFill>
                        </a:rPr>
                        <a:t>Scyavuru</a:t>
                      </a:r>
                      <a:r>
                        <a:rPr lang="it" sz="1100">
                          <a:solidFill>
                            <a:srgbClr val="1F1F1F"/>
                          </a:solidFill>
                        </a:rPr>
                        <a:t>) e consistenza vellutata sono i segnali immediati di qualità.</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È nel nome stesso del brand. Il controllo "dal guscio al vasetto" permette di preservare note aromatiche che i processi industriali distruggono.</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847725">
                <a:tc>
                  <a:txBody>
                    <a:bodyPr/>
                    <a:lstStyle/>
                    <a:p>
                      <a:pPr indent="0" lvl="0" marL="0" rtl="0" algn="l">
                        <a:lnSpc>
                          <a:spcPct val="115000"/>
                        </a:lnSpc>
                        <a:spcBef>
                          <a:spcPts val="0"/>
                        </a:spcBef>
                        <a:spcAft>
                          <a:spcPts val="0"/>
                        </a:spcAft>
                        <a:buNone/>
                      </a:pPr>
                      <a:r>
                        <a:rPr b="1" lang="it" sz="1100">
                          <a:solidFill>
                            <a:srgbClr val="1F1F1F"/>
                          </a:solidFill>
                        </a:rPr>
                        <a:t>2. Helps you be healthier</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Il target è attento a ciò che ingerisce (Clean Label). Vuole una "coccola" senza il senso di colpa di grassi idrogenati o eccesso di zuccheri chimici.</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L'expertise agricola di 80 anni garantisce una materia prima superiore che non ha bisogno di "correttori" industriali per essere buona.</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847725">
                <a:tc>
                  <a:txBody>
                    <a:bodyPr/>
                    <a:lstStyle/>
                    <a:p>
                      <a:pPr indent="0" lvl="0" marL="0" rtl="0" algn="l">
                        <a:lnSpc>
                          <a:spcPct val="115000"/>
                        </a:lnSpc>
                        <a:spcBef>
                          <a:spcPts val="0"/>
                        </a:spcBef>
                        <a:spcAft>
                          <a:spcPts val="0"/>
                        </a:spcAft>
                        <a:buNone/>
                      </a:pPr>
                      <a:r>
                        <a:rPr b="1" lang="it" sz="1100">
                          <a:solidFill>
                            <a:srgbClr val="1F1F1F"/>
                          </a:solidFill>
                        </a:rPr>
                        <a:t>3. Experience comes to life+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Trasforma un momento ordinario (colazione) in un rituale gourmet. La performance tecnica della crema (non separa l'olio) rende ogni assaggio perfetto.</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La ricetta ventennale è stata perfezionata tecnicamente per garantire stabilità e resa estetica costante, tipica di un laboratorio d'eccellenza.</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5: Top Benefici Emotivi: sceglierne 2</a:t>
            </a:r>
            <a:endParaRPr/>
          </a:p>
        </p:txBody>
      </p:sp>
      <p:graphicFrame>
        <p:nvGraphicFramePr>
          <p:cNvPr id="100" name="Google Shape;100;p19"/>
          <p:cNvGraphicFramePr/>
          <p:nvPr/>
        </p:nvGraphicFramePr>
        <p:xfrm>
          <a:off x="152400" y="1356504"/>
          <a:ext cx="3000000" cy="3000000"/>
        </p:xfrm>
        <a:graphic>
          <a:graphicData uri="http://schemas.openxmlformats.org/drawingml/2006/table">
            <a:tbl>
              <a:tblPr>
                <a:noFill/>
                <a:tableStyleId>{08454DD9-8CDB-42CD-A0AC-9FB1692D4590}</a:tableStyleId>
              </a:tblPr>
              <a:tblGrid>
                <a:gridCol w="1301075"/>
                <a:gridCol w="3830450"/>
                <a:gridCol w="3548375"/>
              </a:tblGrid>
              <a:tr h="666750">
                <a:tc>
                  <a:txBody>
                    <a:bodyPr/>
                    <a:lstStyle/>
                    <a:p>
                      <a:pPr indent="0" lvl="0" marL="0" rtl="0" algn="l">
                        <a:lnSpc>
                          <a:spcPct val="115000"/>
                        </a:lnSpc>
                        <a:spcBef>
                          <a:spcPts val="0"/>
                        </a:spcBef>
                        <a:spcAft>
                          <a:spcPts val="0"/>
                        </a:spcAft>
                        <a:buNone/>
                      </a:pPr>
                      <a:r>
                        <a:rPr b="1" lang="it" sz="1100">
                          <a:solidFill>
                            <a:srgbClr val="1F1F1F"/>
                          </a:solidFill>
                        </a:rPr>
                        <a:t>Beneficio </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it" sz="1100">
                          <a:solidFill>
                            <a:srgbClr val="1F1F1F"/>
                          </a:solidFill>
                        </a:rPr>
                        <a:t>Perché è importante per il Target?</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it" sz="1100">
                          <a:solidFill>
                            <a:srgbClr val="1F1F1F"/>
                          </a:solidFill>
                        </a:rPr>
                        <a:t>Perché è Ownable per Scyavuru?</a:t>
                      </a:r>
                      <a:endParaRPr b="1"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r>
              <a:tr h="847725">
                <a:tc>
                  <a:txBody>
                    <a:bodyPr/>
                    <a:lstStyle/>
                    <a:p>
                      <a:pPr indent="0" lvl="0" marL="0" rtl="0" algn="l">
                        <a:lnSpc>
                          <a:spcPct val="115000"/>
                        </a:lnSpc>
                        <a:spcBef>
                          <a:spcPts val="0"/>
                        </a:spcBef>
                        <a:spcAft>
                          <a:spcPts val="0"/>
                        </a:spcAft>
                        <a:buNone/>
                      </a:pPr>
                      <a:r>
                        <a:rPr b="1" lang="it" sz="1100">
                          <a:solidFill>
                            <a:srgbClr val="1F1F1F"/>
                          </a:solidFill>
                        </a:rPr>
                        <a:t>1. Fits with values+</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Il target disprezza il "finto artigianale". Vuole sentire che i suoi soldi sostengono la vera Sicilia e il lavoro onesto.</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Scyavuru è un'azienda reale con radici fisiche a Ribera. La trasparenza della filiera corta risuona con i valori di onestà del cliente.</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847725">
                <a:tc>
                  <a:txBody>
                    <a:bodyPr/>
                    <a:lstStyle/>
                    <a:p>
                      <a:pPr indent="0" lvl="0" marL="0" rtl="0" algn="l">
                        <a:lnSpc>
                          <a:spcPct val="115000"/>
                        </a:lnSpc>
                        <a:spcBef>
                          <a:spcPts val="0"/>
                        </a:spcBef>
                        <a:spcAft>
                          <a:spcPts val="0"/>
                        </a:spcAft>
                        <a:buNone/>
                      </a:pPr>
                      <a:r>
                        <a:rPr b="1" lang="it" sz="1100">
                          <a:solidFill>
                            <a:srgbClr val="1F1F1F"/>
                          </a:solidFill>
                        </a:rPr>
                        <a:t>2. Feel comfortable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Risponde all'insight della "coccola speciale". È il rifugio sicuro dopo una giornata stressante: un piacere di cui ci si può fidare ciecamente.</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La costanza della qualità artigianale crea un legame di fiducia: il consumatore sa che lo </a:t>
                      </a:r>
                      <a:r>
                        <a:rPr i="1" lang="it" sz="1100">
                          <a:solidFill>
                            <a:srgbClr val="1F1F1F"/>
                          </a:solidFill>
                        </a:rPr>
                        <a:t>Scyavuru</a:t>
                      </a:r>
                      <a:r>
                        <a:rPr lang="it" sz="1100">
                          <a:solidFill>
                            <a:srgbClr val="1F1F1F"/>
                          </a:solidFill>
                        </a:rPr>
                        <a:t> sarà lo stesso in ogni vasetto.</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847725">
                <a:tc>
                  <a:txBody>
                    <a:bodyPr/>
                    <a:lstStyle/>
                    <a:p>
                      <a:pPr indent="0" lvl="0" marL="0" rtl="0" algn="l">
                        <a:lnSpc>
                          <a:spcPct val="115000"/>
                        </a:lnSpc>
                        <a:spcBef>
                          <a:spcPts val="0"/>
                        </a:spcBef>
                        <a:spcAft>
                          <a:spcPts val="0"/>
                        </a:spcAft>
                        <a:buNone/>
                      </a:pPr>
                      <a:r>
                        <a:rPr b="1" lang="it" sz="1100">
                          <a:solidFill>
                            <a:srgbClr val="1F1F1F"/>
                          </a:solidFill>
                        </a:rPr>
                        <a:t>3. Self assured+</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Il cliente si sente un "esperto" (Connoisseur). Prova orgoglio nel saper distinguere il vero pistacchio dalle imitazioni </a:t>
                      </a:r>
                      <a:r>
                        <a:rPr i="1" lang="it" sz="1100">
                          <a:solidFill>
                            <a:srgbClr val="1F1F1F"/>
                          </a:solidFill>
                        </a:rPr>
                        <a:t>Italian Sounding</a:t>
                      </a:r>
                      <a:r>
                        <a:rPr lang="it" sz="1100">
                          <a:solidFill>
                            <a:srgbClr val="1F1F1F"/>
                          </a:solidFill>
                        </a:rPr>
                        <a:t>.</a:t>
                      </a:r>
                      <a:endParaRPr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Essendo un marchio scelto dalle migliori boutique gourmet, Scyavuru conferma lo status e l'intelligenza d'acquisto del consumatore.</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6: </a:t>
            </a:r>
            <a:r>
              <a:rPr lang="it"/>
              <a:t>Valori, Credenze, Ispirazioni “</a:t>
            </a:r>
            <a:r>
              <a:rPr lang="it"/>
              <a:t>versione dried”</a:t>
            </a:r>
            <a:endParaRPr/>
          </a:p>
        </p:txBody>
      </p:sp>
      <p:graphicFrame>
        <p:nvGraphicFramePr>
          <p:cNvPr id="106" name="Google Shape;106;p20"/>
          <p:cNvGraphicFramePr/>
          <p:nvPr/>
        </p:nvGraphicFramePr>
        <p:xfrm>
          <a:off x="152400" y="1258529"/>
          <a:ext cx="3000000" cy="3000000"/>
        </p:xfrm>
        <a:graphic>
          <a:graphicData uri="http://schemas.openxmlformats.org/drawingml/2006/table">
            <a:tbl>
              <a:tblPr>
                <a:noFill/>
                <a:tableStyleId>{08454DD9-8CDB-42CD-A0AC-9FB1692D4590}</a:tableStyleId>
              </a:tblPr>
              <a:tblGrid>
                <a:gridCol w="1562100"/>
                <a:gridCol w="1495425"/>
                <a:gridCol w="6038850"/>
              </a:tblGrid>
              <a:tr h="666750">
                <a:tc>
                  <a:txBody>
                    <a:bodyPr/>
                    <a:lstStyle/>
                    <a:p>
                      <a:pPr indent="0" lvl="0" marL="0" rtl="0" algn="l">
                        <a:lnSpc>
                          <a:spcPct val="115000"/>
                        </a:lnSpc>
                        <a:spcBef>
                          <a:spcPts val="0"/>
                        </a:spcBef>
                        <a:spcAft>
                          <a:spcPts val="0"/>
                        </a:spcAft>
                        <a:buNone/>
                      </a:pPr>
                      <a:r>
                        <a:rPr b="1" lang="it" sz="1100">
                          <a:solidFill>
                            <a:srgbClr val="1F1F1F"/>
                          </a:solidFill>
                        </a:rPr>
                        <a:t>Valore Cardine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it" sz="1100">
                          <a:solidFill>
                            <a:srgbClr val="1F1F1F"/>
                          </a:solidFill>
                        </a:rPr>
                        <a:t>Essenza Strategica </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it" sz="1100">
                          <a:solidFill>
                            <a:srgbClr val="1F1F1F"/>
                          </a:solidFill>
                        </a:rPr>
                        <a:t>Visione Profonda (Long)</a:t>
                      </a:r>
                      <a:endParaRPr b="1"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r>
              <a:tr h="847725">
                <a:tc>
                  <a:txBody>
                    <a:bodyPr/>
                    <a:lstStyle/>
                    <a:p>
                      <a:pPr indent="0" lvl="0" marL="0" rtl="0" algn="l">
                        <a:lnSpc>
                          <a:spcPct val="115000"/>
                        </a:lnSpc>
                        <a:spcBef>
                          <a:spcPts val="0"/>
                        </a:spcBef>
                        <a:spcAft>
                          <a:spcPts val="0"/>
                        </a:spcAft>
                        <a:buNone/>
                      </a:pPr>
                      <a:r>
                        <a:rPr b="1" lang="it" sz="1100">
                          <a:solidFill>
                            <a:srgbClr val="1F1F1F"/>
                          </a:solidFill>
                        </a:rPr>
                        <a:t>1. Onestà e Verità</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1100">
                          <a:solidFill>
                            <a:srgbClr val="1F1F1F"/>
                          </a:solidFill>
                        </a:rPr>
                        <a:t>Integrità "Shell-to-Jar"</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Crediamo nell'onestà del sapore: le nostre radici siciliane sono una regola di condotta che protegge la materia prima in ogni fase, garantendo rigore e verità dal guscio al vasetto.</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847725">
                <a:tc>
                  <a:txBody>
                    <a:bodyPr/>
                    <a:lstStyle/>
                    <a:p>
                      <a:pPr indent="0" lvl="0" marL="0" rtl="0" algn="l">
                        <a:lnSpc>
                          <a:spcPct val="115000"/>
                        </a:lnSpc>
                        <a:spcBef>
                          <a:spcPts val="0"/>
                        </a:spcBef>
                        <a:spcAft>
                          <a:spcPts val="0"/>
                        </a:spcAft>
                        <a:buNone/>
                      </a:pPr>
                      <a:r>
                        <a:rPr b="1" lang="it" sz="1100">
                          <a:solidFill>
                            <a:srgbClr val="1F1F1F"/>
                          </a:solidFill>
                        </a:rPr>
                        <a:t>2. Perfezione Sensoriale</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1100">
                          <a:solidFill>
                            <a:srgbClr val="1F1F1F"/>
                          </a:solidFill>
                        </a:rPr>
                        <a:t>Lo Scyavuru della Memoria</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Ispirati dall'intangibile, catturiamo il profumo autentico della Sicilia. Una ricetta ventennale che equilibra tecnica e emozione per restare impressa nella memoria del palato.</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666750">
                <a:tc>
                  <a:txBody>
                    <a:bodyPr/>
                    <a:lstStyle/>
                    <a:p>
                      <a:pPr indent="0" lvl="0" marL="0" rtl="0" algn="l">
                        <a:lnSpc>
                          <a:spcPct val="115000"/>
                        </a:lnSpc>
                        <a:spcBef>
                          <a:spcPts val="0"/>
                        </a:spcBef>
                        <a:spcAft>
                          <a:spcPts val="0"/>
                        </a:spcAft>
                        <a:buNone/>
                      </a:pPr>
                      <a:r>
                        <a:rPr b="1" lang="it" sz="1100">
                          <a:solidFill>
                            <a:srgbClr val="1F1F1F"/>
                          </a:solidFill>
                        </a:rPr>
                        <a:t>3. Responsabilità Olistica</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1100">
                          <a:solidFill>
                            <a:srgbClr val="1F1F1F"/>
                          </a:solidFill>
                        </a:rPr>
                        <a:t>Ecosistema Etico</a:t>
                      </a:r>
                      <a:endParaRPr b="1" sz="11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1100">
                          <a:solidFill>
                            <a:srgbClr val="1F1F1F"/>
                          </a:solidFill>
                        </a:rPr>
                        <a:t>L’uomo e la terra sono al centro: rispettiamo l'ambiente, valorizziamo la maestria dei lavoratori e curiamo la salute del consumatore. Produciamo cibo, custodiamo il futuro.</a:t>
                      </a:r>
                      <a:endParaRPr sz="11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151951"/>
            <a:ext cx="8520600" cy="919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it" sz="1750"/>
              <a:t>6: </a:t>
            </a:r>
            <a:r>
              <a:rPr b="1" lang="it" sz="1750"/>
              <a:t>Valori, Credenze, Ispirazioni </a:t>
            </a:r>
            <a:endParaRPr b="1" sz="1750"/>
          </a:p>
          <a:p>
            <a:pPr indent="0" lvl="0" marL="0" rtl="0" algn="l">
              <a:spcBef>
                <a:spcPts val="0"/>
              </a:spcBef>
              <a:spcAft>
                <a:spcPts val="0"/>
              </a:spcAft>
              <a:buNone/>
            </a:pPr>
            <a:r>
              <a:rPr lang="it" sz="1322"/>
              <a:t>I valori del brand costituiscono la </a:t>
            </a:r>
            <a:r>
              <a:rPr b="1" lang="it" sz="1322"/>
              <a:t>spina dorsale</a:t>
            </a:r>
            <a:r>
              <a:rPr lang="it" sz="1322"/>
              <a:t> della cultura che anima il tuo marchio. Possono derivare dal tuo bagaglio personale o dal modo in cui sei cresciuto. Oppure, possono essere regole e principi nei quali ti identifichi o il modo in cui interpreti le tue priorità nella vita.</a:t>
            </a:r>
            <a:endParaRPr sz="3022"/>
          </a:p>
        </p:txBody>
      </p:sp>
      <p:sp>
        <p:nvSpPr>
          <p:cNvPr id="112" name="Google Shape;112;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Clr>
                <a:schemeClr val="dk1"/>
              </a:buClr>
              <a:buSzPts val="1100"/>
              <a:buFont typeface="Arial"/>
              <a:buNone/>
            </a:pPr>
            <a:r>
              <a:rPr b="1" lang="it" sz="1300">
                <a:solidFill>
                  <a:schemeClr val="dk1"/>
                </a:solidFill>
              </a:rPr>
              <a:t>1</a:t>
            </a:r>
            <a:r>
              <a:rPr b="1" lang="it" sz="1400">
                <a:solidFill>
                  <a:schemeClr val="dk1"/>
                </a:solidFill>
              </a:rPr>
              <a:t>. Onestà e Verità: </a:t>
            </a:r>
            <a:r>
              <a:rPr lang="it" sz="1400">
                <a:solidFill>
                  <a:schemeClr val="dk1"/>
                </a:solidFill>
              </a:rPr>
              <a:t>Crediamo nell'onestà del sapore come forma di rispetto suprema. Le nostre origini siciliane non sono un claim, ma una regola di condotta: proteggiamo l'integrità della materia prima controllando ogni fase, dal guscio al vasetto, per garantire che la promessa fatta al cliente sia sempre mantenuta con verità e rigore.</a:t>
            </a:r>
            <a:endParaRPr sz="1600">
              <a:solidFill>
                <a:schemeClr val="dk1"/>
              </a:solidFill>
            </a:endParaRPr>
          </a:p>
          <a:p>
            <a:pPr indent="0" lvl="0" marL="0" rtl="0" algn="l">
              <a:spcBef>
                <a:spcPts val="1200"/>
              </a:spcBef>
              <a:spcAft>
                <a:spcPts val="0"/>
              </a:spcAft>
              <a:buClr>
                <a:schemeClr val="dk1"/>
              </a:buClr>
              <a:buSzPts val="1100"/>
              <a:buFont typeface="Arial"/>
              <a:buNone/>
            </a:pPr>
            <a:r>
              <a:rPr b="1" lang="it" sz="1400">
                <a:solidFill>
                  <a:schemeClr val="dk1"/>
                </a:solidFill>
              </a:rPr>
              <a:t>2. </a:t>
            </a:r>
            <a:r>
              <a:rPr b="1" lang="it" sz="1400">
                <a:solidFill>
                  <a:schemeClr val="dk1"/>
                </a:solidFill>
              </a:rPr>
              <a:t>Perfezione Sensoriale:</a:t>
            </a:r>
            <a:r>
              <a:rPr lang="it" sz="1400">
                <a:solidFill>
                  <a:schemeClr val="dk1"/>
                </a:solidFill>
              </a:rPr>
              <a:t> Siamo ispirati dall’idea di catturare l'intangibile: il profumo (</a:t>
            </a:r>
            <a:r>
              <a:rPr i="1" lang="it" sz="1400">
                <a:solidFill>
                  <a:schemeClr val="dk1"/>
                </a:solidFill>
              </a:rPr>
              <a:t>Scyavuru</a:t>
            </a:r>
            <a:r>
              <a:rPr lang="it" sz="1400">
                <a:solidFill>
                  <a:schemeClr val="dk1"/>
                </a:solidFill>
              </a:rPr>
              <a:t>) della Sicilia autentica. Attraverso una ricetta ventennale continuamente affinata, cerchiamo l’equilibrio perfetto tra tecnica all'avanguardia e pienezza organolettica, stimolando il nostro team a superare ogni norma per regalare al cliente un’emozione che resti impressa nella memoria.</a:t>
            </a:r>
            <a:endParaRPr sz="1600">
              <a:solidFill>
                <a:schemeClr val="dk1"/>
              </a:solidFill>
            </a:endParaRPr>
          </a:p>
          <a:p>
            <a:pPr indent="0" lvl="0" marL="0" rtl="0" algn="l">
              <a:spcBef>
                <a:spcPts val="1200"/>
              </a:spcBef>
              <a:spcAft>
                <a:spcPts val="1200"/>
              </a:spcAft>
              <a:buClr>
                <a:schemeClr val="dk1"/>
              </a:buClr>
              <a:buSzPts val="1100"/>
              <a:buFont typeface="Arial"/>
              <a:buNone/>
            </a:pPr>
            <a:r>
              <a:rPr b="1" lang="it" sz="1400">
                <a:solidFill>
                  <a:schemeClr val="dk1"/>
                </a:solidFill>
              </a:rPr>
              <a:t>3. Responsabilità Olistica: </a:t>
            </a:r>
            <a:r>
              <a:rPr lang="it" sz="1400">
                <a:solidFill>
                  <a:schemeClr val="dk1"/>
                </a:solidFill>
              </a:rPr>
              <a:t>L’uomo è al centro del nostro cerchio: rispettiamo la terra che ci ospita come un bene prestato, valorizziamo la maestria dei nostri lavoratori come patrimonio inestimabile e curiamo la salute del consumatore offrendo un prodotto puro. Non produciamo solo cibo, ma custodiamo un ecosistema dove etica e qualità crescono insieme.</a:t>
            </a:r>
            <a:endParaRPr sz="14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253394"/>
            <a:ext cx="8520600" cy="74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sz="1600"/>
              <a:t>7:  Reason to Believe (RTB)</a:t>
            </a:r>
            <a:r>
              <a:rPr lang="it" sz="1500"/>
              <a:t> </a:t>
            </a:r>
            <a:endParaRPr sz="1500"/>
          </a:p>
          <a:p>
            <a:pPr indent="0" lvl="0" marL="0" rtl="0" algn="l">
              <a:spcBef>
                <a:spcPts val="0"/>
              </a:spcBef>
              <a:spcAft>
                <a:spcPts val="0"/>
              </a:spcAft>
              <a:buNone/>
            </a:pPr>
            <a:r>
              <a:rPr lang="it" sz="1200"/>
              <a:t>Prove fisiche inattaccabili, quasi “da tribunale” </a:t>
            </a:r>
            <a:r>
              <a:rPr lang="it" sz="1200"/>
              <a:t>per dimostrare che le nostre promesse (es. il </a:t>
            </a:r>
            <a:r>
              <a:rPr i="1" lang="it" sz="1200"/>
              <a:t>viaggio sensoriale, </a:t>
            </a:r>
            <a:r>
              <a:rPr lang="it" sz="1200"/>
              <a:t>l'</a:t>
            </a:r>
            <a:r>
              <a:rPr i="1" lang="it" sz="1200"/>
              <a:t>onestà del sapore</a:t>
            </a:r>
            <a:r>
              <a:rPr lang="it" sz="1200"/>
              <a:t>) non sono solo claims, ma fatti concreti</a:t>
            </a:r>
            <a:r>
              <a:rPr lang="it" sz="1200"/>
              <a:t> (es. materiale come foto del laboratorio, certificazioni, test di assaggio)</a:t>
            </a:r>
            <a:r>
              <a:rPr lang="it" sz="1400"/>
              <a:t>.</a:t>
            </a:r>
            <a:endParaRPr sz="3100"/>
          </a:p>
        </p:txBody>
      </p:sp>
      <p:graphicFrame>
        <p:nvGraphicFramePr>
          <p:cNvPr id="118" name="Google Shape;118;p22"/>
          <p:cNvGraphicFramePr/>
          <p:nvPr/>
        </p:nvGraphicFramePr>
        <p:xfrm>
          <a:off x="95884" y="1139715"/>
          <a:ext cx="3000000" cy="3000000"/>
        </p:xfrm>
        <a:graphic>
          <a:graphicData uri="http://schemas.openxmlformats.org/drawingml/2006/table">
            <a:tbl>
              <a:tblPr>
                <a:noFill/>
                <a:tableStyleId>{08454DD9-8CDB-42CD-A0AC-9FB1692D4590}</a:tableStyleId>
              </a:tblPr>
              <a:tblGrid>
                <a:gridCol w="1503725"/>
                <a:gridCol w="4839950"/>
                <a:gridCol w="2578575"/>
              </a:tblGrid>
              <a:tr h="437800">
                <a:tc>
                  <a:txBody>
                    <a:bodyPr/>
                    <a:lstStyle/>
                    <a:p>
                      <a:pPr indent="0" lvl="0" marL="0" rtl="0" algn="l">
                        <a:lnSpc>
                          <a:spcPct val="115000"/>
                        </a:lnSpc>
                        <a:spcBef>
                          <a:spcPts val="0"/>
                        </a:spcBef>
                        <a:spcAft>
                          <a:spcPts val="0"/>
                        </a:spcAft>
                        <a:buNone/>
                      </a:pPr>
                      <a:r>
                        <a:rPr b="1" lang="it" sz="900">
                          <a:solidFill>
                            <a:srgbClr val="1F1F1F"/>
                          </a:solidFill>
                        </a:rPr>
                        <a:t>Pilastro</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it" sz="900">
                          <a:solidFill>
                            <a:srgbClr val="1F1F1F"/>
                          </a:solidFill>
                        </a:rPr>
                        <a:t>PROVE</a:t>
                      </a:r>
                      <a:r>
                        <a:rPr b="1" lang="it" sz="900">
                          <a:solidFill>
                            <a:srgbClr val="1F1F1F"/>
                          </a:solidFill>
                        </a:rPr>
                        <a:t> (RTB)</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it" sz="900">
                          <a:solidFill>
                            <a:srgbClr val="1F1F1F"/>
                          </a:solidFill>
                        </a:rPr>
                        <a:t>Elemento di Prova (Evidence)</a:t>
                      </a:r>
                      <a:endParaRPr b="1" sz="9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solidFill>
                      <a:srgbClr val="EFEFEF"/>
                    </a:solidFill>
                  </a:tcPr>
                </a:tc>
              </a:tr>
              <a:tr h="589675">
                <a:tc>
                  <a:txBody>
                    <a:bodyPr/>
                    <a:lstStyle/>
                    <a:p>
                      <a:pPr indent="0" lvl="0" marL="0" rtl="0" algn="l">
                        <a:lnSpc>
                          <a:spcPct val="115000"/>
                        </a:lnSpc>
                        <a:spcBef>
                          <a:spcPts val="0"/>
                        </a:spcBef>
                        <a:spcAft>
                          <a:spcPts val="0"/>
                        </a:spcAft>
                        <a:buNone/>
                      </a:pPr>
                      <a:r>
                        <a:rPr b="1" lang="it" sz="900">
                          <a:solidFill>
                            <a:srgbClr val="1F1F1F"/>
                          </a:solidFill>
                        </a:rPr>
                        <a:t>1. Genesi Agricola selezionatori esperti</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900">
                          <a:solidFill>
                            <a:srgbClr val="1F1F1F"/>
                          </a:solidFill>
                        </a:rPr>
                        <a:t>Radici Storiche Documentate:</a:t>
                      </a:r>
                      <a:r>
                        <a:rPr lang="it" sz="900">
                          <a:solidFill>
                            <a:srgbClr val="1F1F1F"/>
                          </a:solidFill>
                        </a:rPr>
                        <a:t> Una storia che inizia ufficialmente negli anni '50, testimoniando una continuità imprenditoriale e agricola rara nel settore.</a:t>
                      </a:r>
                      <a:endParaRPr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900">
                          <a:solidFill>
                            <a:srgbClr val="1F1F1F"/>
                          </a:solidFill>
                        </a:rPr>
                        <a:t>Archivio storico fotografico e documentazione d'epoca (Partita IVA storica).</a:t>
                      </a:r>
                      <a:endParaRPr sz="9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89675">
                <a:tc>
                  <a:txBody>
                    <a:bodyPr/>
                    <a:lstStyle/>
                    <a:p>
                      <a:pPr indent="0" lvl="0" marL="0" rtl="0" algn="l">
                        <a:lnSpc>
                          <a:spcPct val="115000"/>
                        </a:lnSpc>
                        <a:spcBef>
                          <a:spcPts val="0"/>
                        </a:spcBef>
                        <a:spcAft>
                          <a:spcPts val="0"/>
                        </a:spcAft>
                        <a:buNone/>
                      </a:pPr>
                      <a:r>
                        <a:rPr b="1" lang="it" sz="900">
                          <a:solidFill>
                            <a:srgbClr val="1F1F1F"/>
                          </a:solidFill>
                        </a:rPr>
                        <a:t>2. Integrità di Filiera dal guscio al vasetto</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900">
                          <a:solidFill>
                            <a:srgbClr val="1F1F1F"/>
                          </a:solidFill>
                        </a:rPr>
                        <a:t>Padronanza Tecnologica Totale:</a:t>
                      </a:r>
                      <a:r>
                        <a:rPr lang="it" sz="900">
                          <a:solidFill>
                            <a:srgbClr val="1F1F1F"/>
                          </a:solidFill>
                        </a:rPr>
                        <a:t> Gestione interna dell'intero ciclo produttivo attraverso tre linee di lavorazione dedicate e tecnologicamente avanzate.</a:t>
                      </a:r>
                      <a:endParaRPr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900">
                          <a:solidFill>
                            <a:srgbClr val="1F1F1F"/>
                          </a:solidFill>
                        </a:rPr>
                        <a:t>Reportage fotografico delle linee produttive e narrazione dei processi interni.</a:t>
                      </a:r>
                      <a:endParaRPr sz="9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89675">
                <a:tc>
                  <a:txBody>
                    <a:bodyPr/>
                    <a:lstStyle/>
                    <a:p>
                      <a:pPr indent="0" lvl="0" marL="0" rtl="0" algn="l">
                        <a:lnSpc>
                          <a:spcPct val="115000"/>
                        </a:lnSpc>
                        <a:spcBef>
                          <a:spcPts val="0"/>
                        </a:spcBef>
                        <a:spcAft>
                          <a:spcPts val="0"/>
                        </a:spcAft>
                        <a:buNone/>
                      </a:pPr>
                      <a:r>
                        <a:rPr b="1" lang="it" sz="900">
                          <a:solidFill>
                            <a:srgbClr val="1F1F1F"/>
                          </a:solidFill>
                        </a:rPr>
                        <a:t>3. Trasparenza Territoriale</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900">
                          <a:solidFill>
                            <a:srgbClr val="1F1F1F"/>
                          </a:solidFill>
                        </a:rPr>
                        <a:t>Sicilianità Autentica e Certificata:</a:t>
                      </a:r>
                      <a:r>
                        <a:rPr lang="it" sz="900">
                          <a:solidFill>
                            <a:srgbClr val="1F1F1F"/>
                          </a:solidFill>
                        </a:rPr>
                        <a:t> Un ecosistema di partner locali selezionati che operano sotto il marchio Scyavuru, garantendo l'origine siciliana della materia prima.</a:t>
                      </a:r>
                      <a:endParaRPr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900">
                          <a:solidFill>
                            <a:srgbClr val="1F1F1F"/>
                          </a:solidFill>
                        </a:rPr>
                        <a:t>Mappa dei conferitori e loghi dei partner locali esposti sui canali B2B/B2C.</a:t>
                      </a:r>
                      <a:endParaRPr sz="9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89675">
                <a:tc>
                  <a:txBody>
                    <a:bodyPr/>
                    <a:lstStyle/>
                    <a:p>
                      <a:pPr indent="0" lvl="0" marL="0" rtl="0" algn="l">
                        <a:lnSpc>
                          <a:spcPct val="115000"/>
                        </a:lnSpc>
                        <a:spcBef>
                          <a:spcPts val="0"/>
                        </a:spcBef>
                        <a:spcAft>
                          <a:spcPts val="0"/>
                        </a:spcAft>
                        <a:buNone/>
                      </a:pPr>
                      <a:r>
                        <a:rPr b="1" lang="it" sz="900">
                          <a:solidFill>
                            <a:srgbClr val="1F1F1F"/>
                          </a:solidFill>
                        </a:rPr>
                        <a:t>4. Superiorità Analitica</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900">
                          <a:solidFill>
                            <a:srgbClr val="1F1F1F"/>
                          </a:solidFill>
                        </a:rPr>
                        <a:t>Benchmark Qualitativo Superiore:</a:t>
                      </a:r>
                      <a:r>
                        <a:rPr lang="it" sz="900">
                          <a:solidFill>
                            <a:srgbClr val="1F1F1F"/>
                          </a:solidFill>
                        </a:rPr>
                        <a:t> Risultati oggettivi derivanti da test comparativi organolettici e chimico-fisici rispetto ai principali competitor siciliani e nazionali.</a:t>
                      </a:r>
                      <a:endParaRPr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900">
                          <a:solidFill>
                            <a:srgbClr val="1F1F1F"/>
                          </a:solidFill>
                        </a:rPr>
                        <a:t>Analisi di laboratorio CREDIBILE sulla purezza del pistacchio e blind test sensoriali.</a:t>
                      </a:r>
                      <a:endParaRPr sz="9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89675">
                <a:tc>
                  <a:txBody>
                    <a:bodyPr/>
                    <a:lstStyle/>
                    <a:p>
                      <a:pPr indent="0" lvl="0" marL="0" rtl="0" algn="l">
                        <a:lnSpc>
                          <a:spcPct val="115000"/>
                        </a:lnSpc>
                        <a:spcBef>
                          <a:spcPts val="0"/>
                        </a:spcBef>
                        <a:spcAft>
                          <a:spcPts val="0"/>
                        </a:spcAft>
                        <a:buNone/>
                      </a:pPr>
                      <a:r>
                        <a:rPr b="1" lang="it" sz="900">
                          <a:solidFill>
                            <a:srgbClr val="1F1F1F"/>
                          </a:solidFill>
                        </a:rPr>
                        <a:t>5. Ecosistema Circolare Sostenibile</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900">
                          <a:solidFill>
                            <a:srgbClr val="1F1F1F"/>
                          </a:solidFill>
                        </a:rPr>
                        <a:t>Sostenibilità e Innovazione Circolare:</a:t>
                      </a:r>
                      <a:r>
                        <a:rPr lang="it" sz="900">
                          <a:solidFill>
                            <a:srgbClr val="1F1F1F"/>
                          </a:solidFill>
                        </a:rPr>
                        <a:t> Impegno concreto verso l'ambiente e ricerca costante in progetti di economia circolare (cosmesi, canditi, essenze).</a:t>
                      </a:r>
                      <a:endParaRPr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900">
                          <a:solidFill>
                            <a:srgbClr val="1F1F1F"/>
                          </a:solidFill>
                        </a:rPr>
                        <a:t>Certificazioni Green e roadmap dei progetti di innovazione "in itinere".</a:t>
                      </a:r>
                      <a:endParaRPr sz="9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r h="554050">
                <a:tc>
                  <a:txBody>
                    <a:bodyPr/>
                    <a:lstStyle/>
                    <a:p>
                      <a:pPr indent="0" lvl="0" marL="0" marR="0" rtl="0" algn="l">
                        <a:lnSpc>
                          <a:spcPct val="115000"/>
                        </a:lnSpc>
                        <a:spcBef>
                          <a:spcPts val="0"/>
                        </a:spcBef>
                        <a:spcAft>
                          <a:spcPts val="0"/>
                        </a:spcAft>
                        <a:buNone/>
                      </a:pPr>
                      <a:r>
                        <a:rPr b="1" lang="it" sz="900">
                          <a:solidFill>
                            <a:srgbClr val="1F1F1F"/>
                          </a:solidFill>
                        </a:rPr>
                        <a:t>6. Gia’ Molto Apprezzato</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it" sz="900">
                          <a:solidFill>
                            <a:srgbClr val="1F1F1F"/>
                          </a:solidFill>
                        </a:rPr>
                        <a:t>Distribuito gia in oltre 60 paesi</a:t>
                      </a:r>
                      <a:endParaRPr b="1" sz="900">
                        <a:solidFill>
                          <a:srgbClr val="1F1F1F"/>
                        </a:solidFill>
                      </a:endParaRPr>
                    </a:p>
                  </a:txBody>
                  <a:tcPr marT="152400" marB="152400" marR="114300"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it" sz="900">
                          <a:solidFill>
                            <a:srgbClr val="1F1F1F"/>
                          </a:solidFill>
                        </a:rPr>
                        <a:t>Lista paesi dove e’ disponibile sul sito</a:t>
                      </a:r>
                      <a:endParaRPr sz="900">
                        <a:solidFill>
                          <a:srgbClr val="1F1F1F"/>
                        </a:solidFill>
                      </a:endParaRPr>
                    </a:p>
                  </a:txBody>
                  <a:tcPr marT="152400" marB="152400" marR="91425" marL="91425">
                    <a:lnL cap="flat" cmpd="sng" w="6925">
                      <a:solidFill>
                        <a:srgbClr val="1F1F1F"/>
                      </a:solidFill>
                      <a:prstDash val="solid"/>
                      <a:round/>
                      <a:headEnd len="sm" w="sm" type="none"/>
                      <a:tailEnd len="sm" w="sm" type="none"/>
                    </a:lnL>
                    <a:lnR cap="flat" cmpd="sng" w="6925">
                      <a:solidFill>
                        <a:srgbClr val="1F1F1F"/>
                      </a:solidFill>
                      <a:prstDash val="solid"/>
                      <a:round/>
                      <a:headEnd len="sm" w="sm" type="none"/>
                      <a:tailEnd len="sm" w="sm" type="none"/>
                    </a:lnR>
                    <a:lnT cap="flat" cmpd="sng" w="6925">
                      <a:solidFill>
                        <a:srgbClr val="1F1F1F"/>
                      </a:solidFill>
                      <a:prstDash val="solid"/>
                      <a:round/>
                      <a:headEnd len="sm" w="sm" type="none"/>
                      <a:tailEnd len="sm" w="sm" type="none"/>
                    </a:lnT>
                    <a:lnB cap="flat" cmpd="sng" w="6925">
                      <a:solidFill>
                        <a:srgbClr val="1F1F1F"/>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8:  Discriminator </a:t>
            </a:r>
            <a:endParaRPr/>
          </a:p>
          <a:p>
            <a:pPr indent="0" lvl="0" marL="0" rtl="0" algn="l">
              <a:spcBef>
                <a:spcPts val="0"/>
              </a:spcBef>
              <a:spcAft>
                <a:spcPts val="0"/>
              </a:spcAft>
              <a:buNone/>
            </a:pPr>
            <a:r>
              <a:rPr lang="it" sz="1433"/>
              <a:t>È quell'unica frase che spiega perché un consumatore dovrebbe scegliere il Brand </a:t>
            </a:r>
            <a:r>
              <a:rPr b="1" lang="it" sz="1433"/>
              <a:t>Scyavuru Gourmet </a:t>
            </a:r>
            <a:r>
              <a:rPr lang="it" sz="1433"/>
              <a:t> e non un altro marchio gourmet</a:t>
            </a:r>
            <a:r>
              <a:rPr lang="it" sz="1100"/>
              <a:t>.</a:t>
            </a:r>
            <a:endParaRPr/>
          </a:p>
        </p:txBody>
      </p:sp>
      <p:sp>
        <p:nvSpPr>
          <p:cNvPr id="124" name="Google Shape;124;p23"/>
          <p:cNvSpPr txBox="1"/>
          <p:nvPr>
            <p:ph idx="1" type="body"/>
          </p:nvPr>
        </p:nvSpPr>
        <p:spPr>
          <a:xfrm>
            <a:off x="311700" y="1934800"/>
            <a:ext cx="8520600" cy="2634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it">
                <a:solidFill>
                  <a:schemeClr val="dk1"/>
                </a:solidFill>
              </a:rPr>
              <a:t>L’unico custode della filiera siciliana che perfeziona l’arte della selezione e della trasformazione per catturare la forma più pura e autentica del piacere gourmet.</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it"/>
              <a:t>9: Brand Idea Positioning (come vuoi essere percepito)</a:t>
            </a:r>
            <a:endParaRPr/>
          </a:p>
        </p:txBody>
      </p:sp>
      <p:sp>
        <p:nvSpPr>
          <p:cNvPr id="130" name="Google Shape;130;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ctr">
              <a:spcBef>
                <a:spcPts val="0"/>
              </a:spcBef>
              <a:spcAft>
                <a:spcPts val="0"/>
              </a:spcAft>
              <a:buNone/>
            </a:pPr>
            <a:r>
              <a:t/>
            </a:r>
            <a:endParaRPr b="1" sz="1700">
              <a:solidFill>
                <a:schemeClr val="dk1"/>
              </a:solidFill>
            </a:endParaRPr>
          </a:p>
          <a:p>
            <a:pPr indent="0" lvl="0" marL="0" rtl="0" algn="ctr">
              <a:spcBef>
                <a:spcPts val="1200"/>
              </a:spcBef>
              <a:spcAft>
                <a:spcPts val="0"/>
              </a:spcAft>
              <a:buNone/>
            </a:pPr>
            <a:r>
              <a:rPr b="1" lang="it" sz="2824">
                <a:solidFill>
                  <a:schemeClr val="dk1"/>
                </a:solidFill>
                <a:latin typeface="Boldonse"/>
                <a:ea typeface="Boldonse"/>
                <a:cs typeface="Boldonse"/>
                <a:sym typeface="Boldonse"/>
              </a:rPr>
              <a:t>L’integrita’ del Piacere Unico</a:t>
            </a:r>
            <a:endParaRPr b="1" sz="2824">
              <a:solidFill>
                <a:schemeClr val="dk1"/>
              </a:solidFill>
              <a:latin typeface="Boldonse"/>
              <a:ea typeface="Boldonse"/>
              <a:cs typeface="Boldonse"/>
              <a:sym typeface="Boldonse"/>
            </a:endParaRPr>
          </a:p>
          <a:p>
            <a:pPr indent="0" lvl="0" marL="0" rtl="0" algn="l">
              <a:spcBef>
                <a:spcPts val="1200"/>
              </a:spcBef>
              <a:spcAft>
                <a:spcPts val="0"/>
              </a:spcAft>
              <a:buNone/>
            </a:pPr>
            <a:r>
              <a:t/>
            </a:r>
            <a:endParaRPr b="1" sz="1100">
              <a:solidFill>
                <a:schemeClr val="dk1"/>
              </a:solidFill>
            </a:endParaRPr>
          </a:p>
          <a:p>
            <a:pPr indent="0" lvl="0" marL="0" rtl="0" algn="l">
              <a:spcBef>
                <a:spcPts val="1200"/>
              </a:spcBef>
              <a:spcAft>
                <a:spcPts val="0"/>
              </a:spcAft>
              <a:buClr>
                <a:schemeClr val="dk1"/>
              </a:buClr>
              <a:buSzPct val="73333"/>
              <a:buFont typeface="Arial"/>
              <a:buNone/>
            </a:pPr>
            <a:r>
              <a:rPr b="1" lang="it" sz="1500">
                <a:solidFill>
                  <a:schemeClr val="dk1"/>
                </a:solidFill>
              </a:rPr>
              <a:t>L'Integrità:</a:t>
            </a:r>
            <a:r>
              <a:rPr lang="it" sz="1500">
                <a:solidFill>
                  <a:schemeClr val="dk1"/>
                </a:solidFill>
              </a:rPr>
              <a:t> richiama immediatamente la tua </a:t>
            </a:r>
            <a:r>
              <a:rPr i="1" lang="it" sz="1500">
                <a:solidFill>
                  <a:schemeClr val="dk1"/>
                </a:solidFill>
              </a:rPr>
              <a:t>Reason to Believe</a:t>
            </a:r>
            <a:r>
              <a:rPr lang="it" sz="1500">
                <a:solidFill>
                  <a:schemeClr val="dk1"/>
                </a:solidFill>
              </a:rPr>
              <a:t>. È un piacere "integro" perché non è corrotto da semilavorati, aromi chimici o bugie di marketing. È il piacere del frutto intero.</a:t>
            </a:r>
            <a:endParaRPr sz="1500">
              <a:solidFill>
                <a:schemeClr val="dk1"/>
              </a:solidFill>
            </a:endParaRPr>
          </a:p>
          <a:p>
            <a:pPr indent="0" lvl="0" marL="0" rtl="0" algn="l">
              <a:spcBef>
                <a:spcPts val="1200"/>
              </a:spcBef>
              <a:spcAft>
                <a:spcPts val="0"/>
              </a:spcAft>
              <a:buClr>
                <a:schemeClr val="dk1"/>
              </a:buClr>
              <a:buSzPct val="73333"/>
              <a:buFont typeface="Arial"/>
              <a:buNone/>
            </a:pPr>
            <a:r>
              <a:rPr b="1" lang="it" sz="1500">
                <a:solidFill>
                  <a:schemeClr val="dk1"/>
                </a:solidFill>
              </a:rPr>
              <a:t>Il Piacere:</a:t>
            </a:r>
            <a:r>
              <a:rPr lang="it" sz="1500">
                <a:solidFill>
                  <a:schemeClr val="dk1"/>
                </a:solidFill>
              </a:rPr>
              <a:t> è la promessa finale. Non stiamo vendendo solo un "prodotto agricolo", stiamo vendendo la gioia di un assaggio che ti trasporta in Sicilia.</a:t>
            </a:r>
            <a:endParaRPr sz="1500">
              <a:solidFill>
                <a:schemeClr val="dk1"/>
              </a:solidFill>
            </a:endParaRPr>
          </a:p>
          <a:p>
            <a:pPr indent="0" lvl="0" marL="0" rtl="0" algn="l">
              <a:spcBef>
                <a:spcPts val="1200"/>
              </a:spcBef>
              <a:spcAft>
                <a:spcPts val="0"/>
              </a:spcAft>
              <a:buClr>
                <a:schemeClr val="dk1"/>
              </a:buClr>
              <a:buSzPct val="73333"/>
              <a:buFont typeface="Arial"/>
              <a:buNone/>
            </a:pPr>
            <a:r>
              <a:rPr b="1" lang="it" sz="1500">
                <a:solidFill>
                  <a:schemeClr val="dk1"/>
                </a:solidFill>
              </a:rPr>
              <a:t>Unico:</a:t>
            </a:r>
            <a:r>
              <a:rPr lang="it" sz="1500">
                <a:solidFill>
                  <a:schemeClr val="dk1"/>
                </a:solidFill>
              </a:rPr>
              <a:t> è la parola che ti stacca dai competitors. Dice al cliente: </a:t>
            </a:r>
            <a:r>
              <a:rPr i="1" lang="it" sz="1500">
                <a:solidFill>
                  <a:schemeClr val="dk1"/>
                </a:solidFill>
              </a:rPr>
              <a:t>"Puoi cercare altrove, ma questa combinazione di onestà e sapore la trovi solo qui"</a:t>
            </a:r>
            <a:r>
              <a:rPr lang="it" sz="1500">
                <a:solidFill>
                  <a:schemeClr val="dk1"/>
                </a:solidFill>
              </a:rPr>
              <a:t>.</a:t>
            </a:r>
            <a:endParaRPr sz="15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